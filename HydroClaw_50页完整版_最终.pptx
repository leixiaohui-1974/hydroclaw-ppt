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HydroClaw认知智能体系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000"/>
                </a:solidFill>
                <a:latin typeface="微软雅黑"/>
              </a:defRPr>
            </a:pPr>
            <a:r>
              <a:t>从全民养虾到水网自主运行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一、核心价值与挑战 (3-5)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二、设计哲学 (6-10)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三、总体架构 (11-15)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四、垂直大模型 (16-20)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五、个人水网智能体 (21-25)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六、认知决策层 (26-30)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七、技能编排层 (31-35)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八、计算引擎层 (36-40)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九、对象层与元件库 (41-45)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十、应用案例与展望 (46-50)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第一部分</a:t>
            </a:r>
          </a:p>
          <a:p>
            <a:r>
              <a:t>核心价值与挑战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当前挑战对比</a:t>
            </a:r>
          </a:p>
        </p:txBody>
      </p:sp>
      <p:pic>
        <p:nvPicPr>
          <p:cNvPr id="4" name="Picture 3" descr="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HydroClaw解决方案效果</a:t>
            </a:r>
          </a:p>
        </p:txBody>
      </p:sp>
      <p:pic>
        <p:nvPicPr>
          <p:cNvPr id="4" name="Picture 3" descr="kpi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第二部分</a:t>
            </a:r>
          </a:p>
          <a:p>
            <a:r>
              <a:t>设计哲学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四大核心原则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1. 大模型与规则协同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大模型负责理解、推理、生成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规则引擎负责约束、验证、兜底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2. Skill即角色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每个技能都是一个专业角色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继承机制实现知识复用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3. 元件化设计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物理元件、水力元件、网络元件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像搭积木一样组装水网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4. 认知闭环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   • 感知→理解→决策→执行→反馈→学习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原则1：大模型与规则协同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大模型的优势：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理解自然语言，降低使用门槛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推理能力强，处理复杂场景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生成能力强，自动编写代码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规则引擎的作用：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硬约束：流速、压力、管径等物理限制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软约束：设计规范、经验法则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兜底机制：大模型失效时接管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协同机制：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大模型生成方案 → 规则引擎校核 → 反馈修正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原则2：Skill即角色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技能继承体系：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原子技能：单一功能，可复用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复合技能：多个基础技能组合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流程技能：完整业务流程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继承机制：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子技能继承父技能的知识和能力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避免重复开发，提高复用率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原则3&amp;4：元件化与认知闭环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元件化设计：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物理元件：管道、水泵、阀门、水池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水力元件：节点、管段、边界条件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网络元件：拓扑结构、连接关系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认知闭环：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感知：传感器数据、用户输入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理解：大模型解析意图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决策：规则引擎约束 + 优化算法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执行：调用计算引擎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反馈：结果评估 + 知识更新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A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第三部分</a:t>
            </a:r>
          </a:p>
          <a:p>
            <a:r>
              <a:t>总体架构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四层智能决策体系</a:t>
            </a:r>
          </a:p>
        </p:txBody>
      </p:sp>
      <p:pic>
        <p:nvPicPr>
          <p:cNvPr id="4" name="Picture 3" descr="architectur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四层架构详解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认知决策层：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理解用户意图，生成决策方案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技能编排层：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编排调用下层引擎，流程控制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计算引擎层：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预测、优化、仿真、学习、验证、可视化、报告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对象层：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三族元件库，数据模型与业务对象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数据流转示例</a:t>
            </a:r>
          </a:p>
        </p:txBody>
      </p:sp>
      <p:pic>
        <p:nvPicPr>
          <p:cNvPr id="4" name="Picture 3" descr="decis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架构优势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可扩展性：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新增引擎/技能不影响其他层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可维护性：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各层职责清晰，代码内聚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可复用性：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引擎和技能可被多场景复用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可测试性：</a:t>
            </a:r>
          </a:p>
          <a:p>
            <a:pPr>
              <a:spcAft>
                <a:spcPts val="600"/>
              </a:spcAft>
              <a:defRPr sz="1400">
                <a:latin typeface="微软雅黑"/>
              </a:defRPr>
            </a:pPr>
            <a:r>
              <a:t>• 各层可独立测试，Mock接口隔离依赖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