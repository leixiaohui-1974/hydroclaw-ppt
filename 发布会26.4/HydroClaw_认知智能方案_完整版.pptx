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497D"/>
            </a:gs>
            <a:gs pos="100000">
              <a:srgbClr val="44546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HydroClaw认知智能体系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B9BD5"/>
                </a:solidFill>
              </a:defRPr>
            </a:pPr>
            <a:r>
              <a:t>从全民养虾到水网自主运行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垂直大模型 + 个人水网智能体 + 数字孪生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雷晓辉 | 中国水利水电科学研究院 | 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设计哲学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确定性用规则，不确定性用大模型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用户选了什么Skill就具备什么角色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引擎通用不分领域，差异全在元件和参数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物理元件、水文元件、模型元件统一基类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总体架构：四层设计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6400800" cy="100584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认知决策层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大模型 + 规则引擎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377439"/>
            <a:ext cx="6400800" cy="100584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技能编排层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Skill体系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6400800" cy="100584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计算引擎层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七大通用引擎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937759"/>
            <a:ext cx="6400800" cy="100584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对象层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三族元件库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垂直大模型：水利领域专业化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3F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F3F3F"/>
                </a:solidFill>
              </a:defRPr>
            </a:pPr>
            <a:r>
              <a:t>通用大模型</a:t>
            </a:r>
          </a:p>
          <a:p>
            <a:pPr>
              <a:spcBef>
                <a:spcPts val="800"/>
              </a:spcBef>
              <a:defRPr sz="1400">
                <a:solidFill>
                  <a:srgbClr val="3F3F3F"/>
                </a:solidFill>
              </a:defRPr>
            </a:pPr>
            <a:r>
              <a:t>• 广泛知识</a:t>
            </a:r>
          </a:p>
          <a:p>
            <a:pPr>
              <a:spcBef>
                <a:spcPts val="800"/>
              </a:spcBef>
              <a:defRPr sz="1400">
                <a:solidFill>
                  <a:srgbClr val="3F3F3F"/>
                </a:solidFill>
              </a:defRPr>
            </a:pPr>
            <a:r>
              <a:t>• 通用推理</a:t>
            </a:r>
          </a:p>
          <a:p>
            <a:pPr>
              <a:spcBef>
                <a:spcPts val="800"/>
              </a:spcBef>
              <a:defRPr sz="1400">
                <a:solidFill>
                  <a:srgbClr val="3F3F3F"/>
                </a:solidFill>
              </a:defRPr>
            </a:pPr>
            <a:r>
              <a:t>• 但缺乏专业深度</a:t>
            </a:r>
          </a:p>
          <a:p>
            <a:pPr>
              <a:spcBef>
                <a:spcPts val="800"/>
              </a:spcBef>
              <a:defRPr sz="1400">
                <a:solidFill>
                  <a:srgbClr val="3F3F3F"/>
                </a:solidFill>
              </a:defRPr>
            </a:pPr>
            <a:r>
              <a:t>• 易产生幻觉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3657600" cy="256032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垂直大模型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水利专业知识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规范标准内化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工程经验积累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规则引擎兜底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8229600" cy="22860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HydroClaw垂直大模型特点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1. 水利规范知识库：设计规范、运行规程、安全标准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2. 工程案例库：南水北调、胶东调水等实际工程经验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3. 物理约束：水力学、水文学基本定律硬约束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4. 规则兜底：大模型输出必须通过规则引擎验证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个人水网智能体：每个人的AI助手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4546A"/>
                </a:solidFill>
              </a:defRPr>
            </a:pPr>
            <a:r>
              <a:t>不同角色选择不同Skill，自动获得对应能力和约束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840480" cy="164592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设计工程师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Skill: 泵站选型、断面优化、管网计算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→ 个人超级工具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59" y="2194560"/>
            <a:ext cx="3840480" cy="164592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运维人员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Skill: ODD预警、故障诊断、调度优化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→ 智能运维助手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3840480" cy="164592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科研人员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Skill: 仿真对比、参数辨识、方案评估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→ 科研实验平台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59" y="4206240"/>
            <a:ext cx="3840480" cy="1645920"/>
          </a:xfrm>
          <a:prstGeom prst="roundRect">
            <a:avLst/>
          </a:prstGeom>
          <a:solidFill>
            <a:srgbClr val="8E7CC3"/>
          </a:solidFill>
          <a:ln w="25400">
            <a:solidFill>
              <a:srgbClr val="8E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学生教师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Skill: 教学实验、概念演示、作业批改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→ 智能教学助手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第①层：认知决策层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大模型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处理不确定性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自然语言理解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意图识别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上下文推理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3657600" cy="22860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规则引擎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确定性逻辑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五层继承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24个回复模板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822960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44546A"/>
                </a:solidFill>
              </a:defRPr>
            </a:pPr>
            <a:r>
              <a:t>五步决策流程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F3F3F"/>
                </a:solidFill>
              </a:defRPr>
            </a:pPr>
            <a:r>
              <a:t>1. 意图识别 → 2. 规则匹配 → 3. Skill选择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F3F3F"/>
                </a:solidFill>
              </a:defRPr>
            </a:pPr>
            <a:r>
              <a:t>4. 引擎调用 → 5. 结果封装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第②层：技能编排层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680960" cy="146304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原子Skill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单引擎调用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示例：预测、优化、仿真、学习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7680960" cy="146304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组合Skill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多引擎编排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示例：断面优化、泵站选型、ODD预警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7680960" cy="146304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流程Skill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全流程自动化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示例：MBD验证、设计全流程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第③层：七大通用引擎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560320" cy="13716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预测引擎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水文预报、负荷预测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59" y="1097280"/>
            <a:ext cx="2560320" cy="13716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优化引擎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调度优化、断面优化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799" y="1097280"/>
            <a:ext cx="2560320" cy="13716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仿真引擎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水力仿真、电力仿真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2560320" cy="137160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学习引擎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模式识别、参数校准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59" y="2651760"/>
            <a:ext cx="2560320" cy="13716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验证引擎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MBD验证、合规检查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2651760"/>
            <a:ext cx="2560320" cy="13716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可视引擎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3D渲染、数据可视化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2560320" cy="13716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协同引擎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多智能体协作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F3F3F"/>
                </a:solidFill>
              </a:defRPr>
            </a:pPr>
            <a:r>
              <a:t>[OK] 每个引擎内部可切换后端（开源/商业）  [OK] 通过MCP协议集成外部工具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第④层：三族元件库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680960" cy="146304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物理元件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水库、河道、闸门、泵站、管道、阀门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7680960" cy="146304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水文元件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降雨、蒸发、产流、汇流、地下水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7680960" cy="146304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模型元件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水动力、水质、生态、经济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F3F3F"/>
                </a:solidFill>
              </a:defRPr>
            </a:pPr>
            <a:r>
              <a:t>统一基类 BaseComponent，四种参数属性：固有、设计、运行、学习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运行示例：断面优化Skill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7680960" cy="7315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3F3F3F"/>
                </a:solidFill>
              </a:defRPr>
            </a:pPr>
            <a:r>
              <a:t>用户："帮我优化这条河道的断面"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7680960" cy="73152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①认知层：意图识别 → 匹配规则 → 选择'断面优化'Skill</a:t>
            </a:r>
          </a:p>
        </p:txBody>
      </p:sp>
      <p:sp>
        <p:nvSpPr>
          <p:cNvPr id="5" name="Down Arrow 4"/>
          <p:cNvSpPr/>
          <p:nvPr/>
        </p:nvSpPr>
        <p:spPr>
          <a:xfrm>
            <a:off x="4114800" y="2743200"/>
            <a:ext cx="91440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7680960" cy="73152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②技能层：编排：预测引擎 + 优化引擎 + 仿真引擎</a:t>
            </a:r>
          </a:p>
        </p:txBody>
      </p:sp>
      <p:sp>
        <p:nvSpPr>
          <p:cNvPr id="7" name="Down Arrow 6"/>
          <p:cNvSpPr/>
          <p:nvPr/>
        </p:nvSpPr>
        <p:spPr>
          <a:xfrm>
            <a:off x="4114800" y="3749039"/>
            <a:ext cx="91440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7680960" cy="73152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③引擎层：调用优化算法（NSGA-II）+ 水力仿真验证</a:t>
            </a:r>
          </a:p>
        </p:txBody>
      </p:sp>
      <p:sp>
        <p:nvSpPr>
          <p:cNvPr id="9" name="Down Arrow 8"/>
          <p:cNvSpPr/>
          <p:nvPr/>
        </p:nvSpPr>
        <p:spPr>
          <a:xfrm>
            <a:off x="4114800" y="4754879"/>
            <a:ext cx="91440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7680960" cy="73152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④对象层：读取河道元件参数 → 计算 → 更新设计参数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17920"/>
            <a:ext cx="7680960" cy="457200"/>
          </a:xfrm>
          <a:prstGeom prst="roundRect">
            <a:avLst/>
          </a:prstGeom>
          <a:solidFill>
            <a:srgbClr val="E6FFE6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F3F3F"/>
                </a:solidFill>
              </a:defRPr>
            </a:pPr>
            <a:r>
              <a:t>输出：优化后的断面参数 + 3D可视化 + 性能对比报告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设计院切入策略：三阶段渗透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188720"/>
            <a:ext cx="6949440" cy="13716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阶段1：单点工具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泵站选型、管网计算、断面优化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价值：替代Excel和经验公式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017520"/>
            <a:ext cx="6949440" cy="13716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阶段2：MBD验证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全系统数字孪生验证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价值：发现设计缺陷，降低返工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846320"/>
            <a:ext cx="6949440" cy="13716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阶段3：全流程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从方案到施工图自动生成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价值：设计效率提升10倍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4546A"/>
            </a:gs>
            <a:gs pos="100000">
              <a:srgbClr val="1F497D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[OK] 从全民养虾到水网自主运行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[OK] 垂直大模型 + 个人智能体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[OK] 通用引擎 + 领域元件 = 无限可能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[OK] 设计、运行、教学全场景覆盖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1">
                <a:solidFill>
                  <a:srgbClr val="5B9BD5"/>
                </a:solidFill>
              </a:defRPr>
            </a:pPr>
            <a:r>
              <a:t>HydroClaw：让水网像大脑一样思考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