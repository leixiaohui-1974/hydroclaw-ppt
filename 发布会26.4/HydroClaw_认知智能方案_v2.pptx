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A4D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560320"/>
            <a:ext cx="3657600" cy="3657600"/>
          </a:xfrm>
          <a:prstGeom prst="ellipse">
            <a:avLst/>
          </a:prstGeom>
          <a:solidFill>
            <a:srgbClr val="1B8FB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HydroClaw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认知智能体系完整方案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AI Architecture for Autonomous Water Network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27432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从“全民养虾”到水网自主运行——水网领域的垂直认知智能体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雷晓辉  |  河北工程大学  | 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全民养虾：OpenClaw时刻已经到来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OpenClaw（小龙虾）爆火数据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27万+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0116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Stars，超越Linux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0116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9K→1万，史上最快增速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全民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116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腾讯摆摊、雷军下场、大厂抢入口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黄仁勳：“我们这个时代最重要的软件发布”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4023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Linux花30年达到的普及程度，OpenClaw只用3周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这意味着什么？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AI从“对话”转向“行动”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Agent时代正式开启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4632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通用Agent的能力边界暴露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46320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“小龙虾只是一个壳，真正干活的是底层大模型”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垂直领域需要自己的Agent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4632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“部署门槛几乎为零，有效使用门槛依然很高”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84632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水网领域不需要“会说水利话的ChatGPT”，而是一个完整的水网领域操作系统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通用Agent vs 水网垂直Agent：根本性差异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“小龙虾”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不懂物理守恒，不知安全约束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无法调用专业计算引擎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0665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输出不可控、不可验证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没有ODD边界定义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614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没有SIL/HIL安全认证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“小龙虾能帮你整理PPT、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发小红书、做市场调研”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HydroClaw “水网大脑”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物理守恒为底线，安全约束只紧不松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七大计算引擎 + 十大工具箱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60%规则 + 30%大模型 + 10%规则兜底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414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ODD运行设计域精确定义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761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SIL/HIL系统化验证认证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“帮你校核泵站全工况、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803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四预闭环、MBD全流程验证”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水利智能化五代演进：谁在做决策？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32004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代际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技术栈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决策模式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类比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第一代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SCADA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人感知、人决策、人执行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遥控器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第二代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SCADA+SIM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系统辅助分析，人做所有决策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8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第三代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+HDC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预设工况内自动执行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自动驾驶仪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第四代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+xIL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经验证的自动控制，人监管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持证自动驾驶仪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第五代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+MAS(ODD)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经验证的自主决策，人监督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持证指挥官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9184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行业现状：绝大多数水利工程停留在第二代，极少数前沿工程刚触及第三代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跨越三个时代：从第二代到第五代，控制跃迁→信任跃迁→认知跃迁，顺序不可跳过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“先建跑道，再起飞”——这是所有安全关键领域的铁律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跨越三个时代：三重跃迁环环相扣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114300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051560"/>
            <a:ext cx="594360" cy="594360"/>
          </a:xfrm>
          <a:prstGeom prst="ellipse">
            <a:avLst/>
          </a:prstGeom>
          <a:solidFill>
            <a:srgbClr val="0A4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控制跃迁：SIM→HDC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325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从“人做所有决策”到“预设工况内自动执行”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类似从手动挡到自动挡——技术成熟但落地困难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54864" cy="114300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377440"/>
            <a:ext cx="594360" cy="594360"/>
          </a:xfrm>
          <a:prstGeom prst="ellipse">
            <a:avLst/>
          </a:prstGeom>
          <a:solidFill>
            <a:srgbClr val="1B8F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信任跃迁：HDC→HDC+xIL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先建验证体系，再升级智能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类似DO-178C适航认证——从“实验可行”到“工程可用”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20440"/>
            <a:ext cx="54864" cy="1143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703320"/>
            <a:ext cx="594360" cy="59436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认知跃迁：HDC+xIL→MAS(ODD)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977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在xIL保障下，叠加场景识别、自主决策、ODD边界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类似自动驾驶L2→L4——“持证指挥官”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HydroClaw = 在xIL保护下的第五代认知智能层，是“持证指挥官”的认知大脑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8FB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理论根基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CHS八原理 · MBD范式变革 · WSAL分级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水系统控制论（CHS）：八大基本原理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4864" cy="173736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932688"/>
            <a:ext cx="457200" cy="457200"/>
          </a:xfrm>
          <a:prstGeom prst="ellipse">
            <a:avLst/>
          </a:prstGeom>
          <a:solidFill>
            <a:srgbClr val="0A4D7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反馈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987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不确定性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消除不确定性的根本手段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MPC/PID/数据同化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822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822960"/>
            <a:ext cx="54864" cy="173736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932688"/>
            <a:ext cx="457200" cy="457200"/>
          </a:xfrm>
          <a:prstGeom prst="ellipse">
            <a:avLst/>
          </a:prstGeom>
          <a:solidFill>
            <a:srgbClr val="1B8FBF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解耦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54680" y="987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强耦合系统分解为弱耦合子系统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DMA分区/空间解耦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822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22960"/>
            <a:ext cx="54864" cy="17373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932688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降阶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987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复杂性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保持关键特性前提下降低维度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POD/IDZ/管网骨干化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0" y="82296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822960"/>
            <a:ext cx="54864" cy="1737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Shape 27"/>
          <p:cNvSpPr/>
          <p:nvPr/>
        </p:nvSpPr>
        <p:spPr>
          <a:xfrm>
            <a:off x="6995160" y="93268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涌现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43800" y="987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9516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个体交互产生的宏观行为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951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Agent建模/CPSS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7889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788920"/>
            <a:ext cx="54864" cy="1737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898648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鲁棒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不确定性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最坏情况下的性能底线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鲁棒优化/容错控制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68880" y="27889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68880" y="2788920"/>
            <a:ext cx="54864" cy="173736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43" name="Shape 41"/>
          <p:cNvSpPr/>
          <p:nvPr/>
        </p:nvSpPr>
        <p:spPr>
          <a:xfrm>
            <a:off x="2606040" y="2898648"/>
            <a:ext cx="457200" cy="457200"/>
          </a:xfrm>
          <a:prstGeom prst="ellipse">
            <a:avLst/>
          </a:prstGeom>
          <a:solidFill>
            <a:srgbClr val="0A4D7A"/>
          </a:solidFill>
          <a:ln/>
        </p:spPr>
      </p:sp>
      <p:sp>
        <p:nvSpPr>
          <p:cNvPr id="44" name="Text 42"/>
          <p:cNvSpPr/>
          <p:nvPr/>
        </p:nvSpPr>
        <p:spPr>
          <a:xfrm>
            <a:off x="260604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协同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15468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系统性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0604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多目标多主体权衡与共赢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0604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多目标优化/博弈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7889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2788920"/>
            <a:ext cx="54864" cy="173736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50" name="Shape 48"/>
          <p:cNvSpPr/>
          <p:nvPr/>
        </p:nvSpPr>
        <p:spPr>
          <a:xfrm>
            <a:off x="4800600" y="2898648"/>
            <a:ext cx="457200" cy="457200"/>
          </a:xfrm>
          <a:prstGeom prst="ellipse">
            <a:avLst/>
          </a:prstGeom>
          <a:solidFill>
            <a:srgbClr val="1B8FBF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自适应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4924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不确定性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在线学习与参数更新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0060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RL/自适应控制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0" y="278892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58000" y="2788920"/>
            <a:ext cx="54864" cy="17373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57" name="Shape 55"/>
          <p:cNvSpPr/>
          <p:nvPr/>
        </p:nvSpPr>
        <p:spPr>
          <a:xfrm>
            <a:off x="6995160" y="2898648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58" name="Text 56"/>
          <p:cNvSpPr/>
          <p:nvPr/>
        </p:nvSpPr>
        <p:spPr>
          <a:xfrm>
            <a:off x="699516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层次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543800" y="2953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复杂性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95160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多尺度嵌套的分层控制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995160" y="3886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流域-区域-工程三级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MBD范式变革：从“画图纸”到“定义模型”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比较维度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BIM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B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MBD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回答什么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工程长什么样？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工程会怎样运行？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模型地位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图纸的补充和辅助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唯一权威的工程定义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关注重点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几何形体、空间关系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运行行为、控制能力、安全边界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验证体系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碰撞检查、净空校验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仿真→SIL→HIL逐级验证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行业实践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建筑行业有一定效果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航空航天、汽车已大规模应用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38328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核心判断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BIM只解决了“把工程画清楚”，MBD解决的是“把工程定义清楚”——尤其是“这个工程在运行中表现如何”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波音787是全球第一架完全基于MBD设计制造的商用飞机，从E设计到出厂全程不用一张纸质图纸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WSAL水系统自主运行等级：对标自动驾驶SAE分级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4297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WSAL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名称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特征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决策主体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7B8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人工运行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完全依赖人工经验操控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B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8FB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辅助运行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单变量自动控制（如水位PID）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8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人主/机辅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4D7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半自动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多变量协调控制，人监督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人机共同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条件自主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特定工况下自主决策，异常时人接管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机主/人备份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A62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高度自主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绝大部分工况自主运行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完全自主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全工况全天候自主运行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当前我国水系统普遍处于WSAL-0至WSAL-1水平。HydroClaw目标：支撑从WSAL-1向WSAL-3乃至更高等级演进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HydroClaw设计哲学：四句话概括整个方案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05840"/>
            <a:ext cx="502920" cy="502920"/>
          </a:xfrm>
          <a:prstGeom prst="ellipse">
            <a:avLst/>
          </a:prstGeom>
          <a:solidFill>
            <a:srgbClr val="1B8FB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96012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确定性的事用规则，不确定性的事用大模型，大模型的输出用规则兜底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0A4D7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19202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用户选了什么Skill就具备什么角色，行为即身份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88036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引擎通用不分领域，差异全在元件和参数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38404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物理元件、水文元件、模型元件统一基类，混合组装任意水网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总体架构：四层单向依赖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109728" cy="822960"/>
          </a:xfrm>
          <a:prstGeom prst="rect">
            <a:avLst/>
          </a:prstGeom>
          <a:solidFill>
            <a:srgbClr val="0A4D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认知决策层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 + 规则引擎 + 模板渲染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“理解意图、选择Skill、约束行为、格式化输出”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97680" y="1600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18745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1874520"/>
            <a:ext cx="109728" cy="822960"/>
          </a:xfrm>
          <a:prstGeom prst="rect">
            <a:avLst/>
          </a:prstGeom>
          <a:solidFill>
            <a:srgbClr val="1B8FB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技能编排层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716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Skill体系（原子→组合→流程）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57200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“知道做什么、按什么顺序、怎么解读结果”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29768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28803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2880360"/>
            <a:ext cx="109728" cy="82296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6324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计算引擎层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3716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七大通用引擎 + 工具箱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0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“怎么算——与领域无关的纯算法和公共工具”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29768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B8D"/>
                </a:solidFill>
              </a:rPr>
              <a:t>▼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3886200"/>
            <a:ext cx="109728" cy="82296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6908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对象层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37160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三族元件库 + 水网组装 + 外部工具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0" y="4023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“算什么——具体的元件实例和工程系统”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8FB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第①层：认知决策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大模型与规则的精确分工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大模型与规则的分工：60-30-10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005840"/>
            <a:ext cx="1097280" cy="1097280"/>
          </a:xfrm>
          <a:prstGeom prst="ellipse">
            <a:avLst/>
          </a:prstGeom>
          <a:solidFill>
            <a:srgbClr val="1B8FB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规则引擎处理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确定性场景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1600200" cy="18288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查询闸门水位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410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执行标准巡检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ODD阈值判别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105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预警等级确定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8686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69080" y="1005840"/>
            <a:ext cx="1097280" cy="1097280"/>
          </a:xfrm>
          <a:prstGeom prst="ellipse">
            <a:avLst/>
          </a:prstGeom>
          <a:solidFill>
            <a:srgbClr val="0A4D7A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2900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大模型处理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需要理解和推理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2926080"/>
            <a:ext cx="1600200" cy="18288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分析工况推荐方案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0" y="3410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设计方案比选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758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跨域关联分析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4105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可解释性生成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86868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1005840"/>
            <a:ext cx="1097280" cy="10972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1005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55080" y="2240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大模型+规则兜底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开放性问题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2926080"/>
            <a:ext cx="1600200" cy="18288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未预见的异常工况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3410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科研探索性讨论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3758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应急情况类比推理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41056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创新性方案构想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规则体系：五层继承，自动加载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978408"/>
            <a:ext cx="457200" cy="4206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784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安全底线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188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物理守恒 / 安全约束只紧不松 / 不编造数据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97840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始终加载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45920"/>
            <a:ext cx="54864" cy="64008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755648"/>
            <a:ext cx="457200" cy="420624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7556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Skill携带规则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选Skill自动加载角色规则（设计/运维/科研/教学）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按Skill标签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423160"/>
            <a:ext cx="54864" cy="64008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2532888"/>
            <a:ext cx="457200" cy="420624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5328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产品规则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2743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SIL环境隔离 / MBD流程不跳过 / 操作二次确认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25328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按当前产品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54864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310128"/>
            <a:ext cx="457200" cy="42062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101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场景规则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34440" y="3520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实时控制延迟约束 / 设计必须对比基准 / 应急保守策略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33101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按业务场景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087368"/>
            <a:ext cx="457200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0873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344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案例参数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34440" y="4297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中线冰期Fr≤0.06 / 胶东泵站先下游后上游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40873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按工程案例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用户不需要声明角色，选Skill就自动获得对应的规则约束、回复深度和术语风格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8FB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第②层：技能编排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53个原子 + 17个组合 + 6个流程Skill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Skill三层继承 + 角色层级体系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54864" cy="2103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960120"/>
            <a:ext cx="914400" cy="91440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S0 原子Skill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封装一个MCP工具调用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仿真/辨识/调度/控制/检测/预测/学习/工具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7180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91840" y="8686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868680"/>
            <a:ext cx="54864" cy="210312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0" y="960120"/>
            <a:ext cx="914400" cy="914400"/>
          </a:xfrm>
          <a:prstGeom prst="ellipse">
            <a:avLst/>
          </a:prstGeom>
          <a:solidFill>
            <a:srgbClr val="1B8FB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 组合Skill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编排多个S0完成业务功能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预报/预警/预演/预案/SIL/控制设计/RL策略...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9788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17920" y="8686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868680"/>
            <a:ext cx="54864" cy="210312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960120"/>
            <a:ext cx="914400" cy="914400"/>
          </a:xfrm>
          <a:prstGeom prst="ellipse">
            <a:avLst/>
          </a:prstGeom>
          <a:solidFill>
            <a:srgbClr val="0A4D7A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960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 流程Skill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编排多个S1完成完整流程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四预闭环/SIL验证/HIL验证/MBD全流程/应急/教学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246120"/>
            <a:ext cx="1627632" cy="32004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运维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L2调度中心 / L1管理段 / L0现地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21408" y="3246120"/>
            <a:ext cx="1627632" cy="3200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33" name="Text 31"/>
          <p:cNvSpPr/>
          <p:nvPr/>
        </p:nvSpPr>
        <p:spPr>
          <a:xfrm>
            <a:off x="2121408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67128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L2总工 / L1专业负责人 / L0设计员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77056" y="3246120"/>
            <a:ext cx="1627632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6" name="Text 34"/>
          <p:cNvSpPr/>
          <p:nvPr/>
        </p:nvSpPr>
        <p:spPr>
          <a:xfrm>
            <a:off x="3877056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教学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22776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L2课程负责人 / L1主讲 / L0助教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32704" y="3246120"/>
            <a:ext cx="1627632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5632704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科研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78424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PI / L1博士生 / L0硕士生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88352" y="3246120"/>
            <a:ext cx="1627632" cy="32004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42" name="Text 40"/>
          <p:cNvSpPr/>
          <p:nvPr/>
        </p:nvSpPr>
        <p:spPr>
          <a:xfrm>
            <a:off x="7388352" y="32461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学生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34072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S3研究生 / S2本科 / S1大专 / S0科普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层级决定的不是“能不能用Skill”，而是“用Skill时能做到什么程度”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8FB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第③层：计算引擎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七大通用引擎 + 十大工具箱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AI + Cognitive AI 双引擎架构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AI 引擎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41148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247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仿真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Saint-Venant/MOC/ODE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00200"/>
            <a:ext cx="54864" cy="41148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276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辨识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627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最小二乘/UKF/GA/PINN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03120"/>
            <a:ext cx="54864" cy="4114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305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调度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1305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LP/MILP/DP/多目标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06040"/>
            <a:ext cx="54864" cy="411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33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控制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6334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PID/MPC/DMPC/自适应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54864" cy="41148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13639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优化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31363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SQP/GA/PSO/贝叶斯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Cognitive AI 引擎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97280"/>
            <a:ext cx="54864" cy="5486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143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预测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1143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LSTM/Transformer/GNN/IDZ/混合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78308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783080"/>
            <a:ext cx="54864" cy="54864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8288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RL(PPO/SAC)/模仿学习/在线学习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560320"/>
            <a:ext cx="39319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十大工具箱 (~100个函数)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数据处理/曲线拟合/统计/诊断/水力计算/水质/经济/可视化...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外部工具生态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8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WNTR(供水管网) + PySWMM(排水) + ras-commander(HEC-RAS河道) + FloPy(地下水) + PyTorch/SB3/HF(深度学习)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0080" y="4251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自研体系是核心（自主可控），外部工具是生态（通过标准MCP接口接入）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8FB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第④层：三族元件库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 + 水文 + 模型 = 统一基类，混合组装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三族元件库：统一抽象，混合组装任意水网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2697480" cy="438912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68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第一族：物理元件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管控对象 | 仿真引擎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执行器(闸泵阀水轮机)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蓄水体(水库湖泊水池)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输水体(明渠管道河道)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耦合器(水机电/闸渠/泵管)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68680"/>
            <a:ext cx="2697480" cy="43891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868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第二族：水文元件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115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外部驱动(扰动) | 仿真+预测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产流(流域/透水面/土壤)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汇流(单位线/马斯京根)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气象(降雨场/蒸发/温度)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水文耦合(地表-地下水)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868680"/>
            <a:ext cx="2697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868680"/>
            <a:ext cx="2697480" cy="43891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868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第三族：模型元件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1115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加速替身/智能扩展 | 预测+学习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63640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M1替代模型(IDZ/POD/PINN)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1965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M2预测模型(LSTM/GNN)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M3策略模型(RL/模仿学习)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M4概念水文(新安江/HBV)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所有元件继承同一个基类Component，都有compute()/params/ports——三族可混合组装任意水网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4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8FBF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657600" cy="36576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典型应用场景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设计院 · 运维 · 教学 · 科研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设计院场景：泵站选型桡2分钟出结果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按设计工况点选型 → 审查通过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运行阶段10m³/s时泵启动失败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打补丁：甩站 + 翻板闸憛水头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代价：能耗增加30%+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运行灵活性丧失，安全隐患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用了HydroClaw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3716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全工况选型校核(S0-SIM + S0-OPT)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3分钟发现10工况下扬程不够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自动比选：混流泵 or 变频驱动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SIL全工况验证(S1-SIL)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在设计阶段就解决问题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翻板闸不用加了，每年省的电费够买十套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运维场景：四预闭环 + 应急响应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0A4D7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预报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UKF→仿真/预测→不确定性量化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14600" y="8686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0584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预警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1920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ODD检查→趋势预测→等级判定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1005840"/>
            <a:ext cx="731520" cy="731520"/>
          </a:xfrm>
          <a:prstGeom prst="ellipse">
            <a:avLst/>
          </a:prstGeom>
          <a:solidFill>
            <a:srgbClr val="1B8FBF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预演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920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方案解析→闭环仿真→约束校核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B8D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95160" y="86868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1005840"/>
            <a:ext cx="731520" cy="731520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3" name="Text 21"/>
          <p:cNvSpPr/>
          <p:nvPr/>
        </p:nvSpPr>
        <p:spPr>
          <a:xfrm>
            <a:off x="763524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预案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1920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案例库检索→预演验证→优化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S2-4P 四预闭环 = 完整的调度决策支持流程 | S2-EMG 应急响应 = 优先级自动切换，保守策略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设计院三阶段渗透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近期：机电骨干个人超级工具(S0)  →  中期：总工方案审查平台(S1)  →  远期：MBD设计平台(S2全流程)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教学场景：同一实验，四级学生完全不同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011680" cy="36576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68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研究生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双容水箱+MPC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开放度: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自行设计控制器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对比多种算法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算法创新性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8686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868680"/>
            <a:ext cx="2011680" cy="36576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868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 本科生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双容水箱+PID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开放度: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可调Kp/Ki/Kd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苏格拉底引导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知识点理解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68680"/>
            <a:ext cx="2011680" cy="36576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868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 大专生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水箱+固定PID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开放度: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只能操作启停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步骤式引导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操作正确性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0" y="8686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868680"/>
            <a:ext cx="201168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868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S0 科普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4D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动画演示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0" y="1691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开放度: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只能观看提问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类比式解释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评价: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概念理解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产品-市场匹配：15类用户群体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09728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用户群体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角色标签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Skill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价值主张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设计院·工程师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designer_L1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全工况校核3分钟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设计院·总工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designer_L2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方案审定前全系统验证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运管·调度中心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operator_L2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四预闭环+应急响应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高校·主讲教师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teacher_L1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S1+S2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一键配置实验场景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高校·研究生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student_S3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S0+S1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独立科研全工具链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高校·本科生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student_S2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S0受限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苏格拉底引导式学习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科研·PI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8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researcher_L2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S1+S2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4D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方向把控+成果评估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CHS理论框架 ↔ HydroClaw实现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"/>
                <a:gridCol w="5394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CHS理论框架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HydroClaw认知智能实现</a:t>
                      </a:r>
                      <a:endParaRPr lang="en-US" sz="10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4D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六要素(PASDCO)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元件库统一描述 + 模板基类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Physical AI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仿真+辨识+控制+优化+调度引擎+元件库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Cognitive AI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认知决策层(规则+LLM+模板)+预测+学习引擎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HDC分层分布式控制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L0/L1/L2 MAS智能体，每个内嵌Skill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MBD基于模型定义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S2-MBD流程Skill + 设计全环节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ODD运行设计域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S0-DET-01 ODD检查 + 三区规则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SIL/HIL在环验证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S2-SIL / S2-HIL 流程Skill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WSAL自主运行分级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8FBF"/>
                          </a:solidFill>
                        </a:rPr>
                        <a:t>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S1-WNAL评估Skill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学科支撑：12院士联名建议设立交叉学科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“水系统运行科学与工程”交叉学科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两院四个学部 · 12位院士联名支持 · 在院士咨询建议历史上极为罕见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涉水领域：王浩、唐洪武、钮新强、张宗亮、许唯临、胡亚安、徐祖信、贾金生  |  交叉学科：柴天佑、桂卫华、薛禹胜、管晓宏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1627632" cy="3200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水利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水库、灵区、调水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29968" y="2331720"/>
            <a:ext cx="1627632" cy="320040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14" name="Text 12"/>
          <p:cNvSpPr/>
          <p:nvPr/>
        </p:nvSpPr>
        <p:spPr>
          <a:xfrm>
            <a:off x="2029968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水电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75688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梯级水电、抽蓄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85616" y="2331720"/>
            <a:ext cx="1627632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3785616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水运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船闸、升船机、航道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41264" y="2331720"/>
            <a:ext cx="1627632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541264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水务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86984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供水管网、排水系统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96912" y="2331720"/>
            <a:ext cx="1627632" cy="32004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3" name="Text 21"/>
          <p:cNvSpPr/>
          <p:nvPr/>
        </p:nvSpPr>
        <p:spPr>
          <a:xfrm>
            <a:off x="7296912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调水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42632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跨流域输水工程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为什么是交叉学科？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“控制科学不懂水，水利工程不懂控制，AI不懂物理机理，各主管部门缺乏统一运行理论”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电力系统在上世纪中叶就建立了独立的“电力系统运行与控制”学科——正是那门学科的成熟，支撑了中国电网从手动调度到自动化调度的全面升级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组件统计 + 增量扩展路径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~40条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716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引擎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工具函数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0" y="8229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8F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元件类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总计 ~290个组件（含~100个工具函数）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新增内容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新增方式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改动量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8FB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新物理元件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继承Component实现compute()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+1文件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新外部工具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MCP封装(pip install)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新工程案例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新增L4案例参数文件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yaml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新水网类型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从三族元件库混合组装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0文件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365760" y="347472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产品体系映射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HydroOS = 第③④层（7引擎+工具箱+三族元件库+水网实例）  |  HydroMAS = 第①②层（认知决策+技能编排）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HydroClaw = 用户交互入口（飞书/企微 → Skill选择 → 结果展示）  |  类似“水网领域的OpenClaw”但懂物理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8F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AGI与Physical AI：殊途同归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A4D7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54864" cy="2286000"/>
          </a:xfrm>
          <a:prstGeom prst="rect">
            <a:avLst/>
          </a:prstGeom>
          <a:solidFill>
            <a:srgbClr val="D94F3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22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4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AGI路径：自上而下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从通用智能出发，逐步获取对水利物理系统的理解能力。但它仍然需要：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精确的物理模型(SIM)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分层的决策架构(MAS)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系统化的验证体系(xIL)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54864" cy="22860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我们的路径：自下而上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1887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从水利行业工程实践出发，逐层构建面向自主运行的技术栈。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SCADA = 感官和肢体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SIM = 物理引擎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HDC = 运动控制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MAS = 认知大脑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xIL = 安全认证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8412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两条路径在“Physical AI”这个交汇点上殊途同归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真正的风险不是“AGI来了，水利行业被颠覆”，而是水利行业没有建立起自己的Physical AI基础设施。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4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已经建立了自主运行框架和验证标准的行业，才有资格成为AGI的合作伙伴而非被改造对象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A4D7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560320"/>
            <a:ext cx="3657600" cy="3657600"/>
          </a:xfrm>
          <a:prstGeom prst="ellipse">
            <a:avLst/>
          </a:prstGeom>
          <a:solidFill>
            <a:srgbClr val="1B8FB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0C9A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不是“养小龙虾”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而是造水网的大脑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27432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五代演进框架 — 从“遥控器”到“持证指挥官”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70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CHS八原理 + MBD范式 + WSAL分级 — 完整的理论与标准体系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~290个组件 — 覆盖设计、运维、教学、科研全场景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381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12院士联名 — “水系统运行科学与工程”交叉学科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221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水网领域的垂直认知智能体 — 跨行业领先的工业AI架构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HydroClaw — 让水网拥有自己的认知智能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HydroClaw 认知智能体系</dc:title>
  <dc:subject>PptxGenJS Presentation</dc:subject>
  <dc:creator>雷晓辉</dc:creator>
  <cp:lastModifiedBy>雷晓辉</cp:lastModifiedBy>
  <cp:revision>1</cp:revision>
  <dcterms:created xsi:type="dcterms:W3CDTF">2026-03-11T10:55:33Z</dcterms:created>
  <dcterms:modified xsi:type="dcterms:W3CDTF">2026-03-11T10:55:33Z</dcterms:modified>
</cp:coreProperties>
</file>