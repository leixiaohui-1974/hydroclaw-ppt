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497D"/>
            </a:gs>
            <a:gs pos="100000">
              <a:srgbClr val="44546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</a:defRPr>
            </a:pPr>
            <a:r>
              <a:t>HydroClaw认知智能体系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448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5B9BD5"/>
                </a:solidFill>
              </a:defRPr>
            </a:pPr>
            <a:r>
              <a:t>从全民养虾到水网自主运行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垂直大模型 + 个人水网智能体 + 数字孪生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雷晓辉 | 中国水利水电科学研究院 |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F3F3F"/>
                </a:solidFill>
              </a:defRPr>
            </a:pPr>
            <a:r>
              <a:t>2/50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HydroClaw认知智能体系 | 中国水利水电科学研究院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005840"/>
            <a:ext cx="411480" cy="4114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一、核心价值与挑战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1005840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P3-5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536192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36192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二、设计哲学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536192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P6-10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066543"/>
            <a:ext cx="411480" cy="4114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66543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三、总体架构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066543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P11-15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596896"/>
            <a:ext cx="411480" cy="411480"/>
          </a:xfrm>
          <a:prstGeom prst="ellipse">
            <a:avLst/>
          </a:prstGeom>
          <a:solidFill>
            <a:srgbClr val="8E7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96896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四、垂直大模型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596896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P16-20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127248"/>
            <a:ext cx="411480" cy="41148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27248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五、个人水网智能体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127248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P21-25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657600"/>
            <a:ext cx="411480" cy="4114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57600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六、认知决策层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657600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P26-30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187952"/>
            <a:ext cx="411480" cy="41148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187952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七、技能编排层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187952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P31-35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718304"/>
            <a:ext cx="411480" cy="41148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18304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八、计算引擎层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718304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P36-40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248656"/>
            <a:ext cx="411480" cy="41148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248656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九、对象层与元件库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248656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P41-45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77900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779008"/>
            <a:ext cx="8686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3F3F3F"/>
                </a:solidFill>
              </a:defRPr>
            </a:pPr>
            <a:r>
              <a:t>十、应用案例与展望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779008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3F3F3F"/>
                </a:solidFill>
              </a:defRPr>
            </a:pPr>
            <a:r>
              <a:t>P46-50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一、核心价值与挑战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从全民养虾到水网自主运行的转变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F3F3F"/>
                </a:solidFill>
              </a:defRPr>
            </a:pPr>
            <a:r>
              <a:t>3/50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当前挑战：全民养虾困境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F3F3F"/>
                </a:solidFill>
              </a:defRPr>
            </a:pPr>
            <a:r>
              <a:t>4/50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HydroClaw认知智能体系 | 中国水利水电科学研究院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828800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人工依赖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调度决策依赖人工经验，难以标准化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1828800"/>
          </a:xfrm>
          <a:prstGeom prst="roundRect">
            <a:avLst/>
          </a:prstGeom>
          <a:solidFill>
            <a:srgbClr val="ED7D31"/>
          </a:solidFill>
          <a:ln w="381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响应滞后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异常工况响应慢，错过最佳处置时机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303520" cy="1828800"/>
          </a:xfrm>
          <a:prstGeom prst="roundRect">
            <a:avLst/>
          </a:prstGeom>
          <a:solidFill>
            <a:srgbClr val="FFC000"/>
          </a:solidFill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知识流失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专家经验难以传承，新人培养周期长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657600"/>
            <a:ext cx="5303520" cy="1828800"/>
          </a:xfrm>
          <a:prstGeom prst="roundRect">
            <a:avLst/>
          </a:prstGeom>
          <a:solidFill>
            <a:srgbClr val="70AD47"/>
          </a:solidFill>
          <a:ln w="381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效率低下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重复性工作占用大量人力资源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HydroClaw解决方案：智能化转型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F3F3F"/>
                </a:solidFill>
              </a:defRPr>
            </a:pPr>
            <a:r>
              <a:t>5/50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HydroClaw认知智能体系 | 中国水利水电科学研究院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828800"/>
          </a:xfrm>
          <a:prstGeom prst="roundRect">
            <a:avLst/>
          </a:prstGeom>
          <a:solidFill>
            <a:srgbClr val="5B9BD5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认知智能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大模型理解意图，规则引擎保障安全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1828800"/>
          </a:xfrm>
          <a:prstGeom prst="roundRect">
            <a:avLst/>
          </a:prstGeom>
          <a:solidFill>
            <a:srgbClr val="70AD47"/>
          </a:solidFill>
          <a:ln w="381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自主运行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7x24小时监控，秒级响应异常工况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303520" cy="1828800"/>
          </a:xfrm>
          <a:prstGeom prst="roundRect">
            <a:avLst/>
          </a:prstGeom>
          <a:solidFill>
            <a:srgbClr val="8E7CC3"/>
          </a:solidFill>
          <a:ln w="38100">
            <a:solidFill>
              <a:srgbClr val="8E7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知识固化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专家经验转化为Skill，永久保存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657600"/>
            <a:ext cx="5303520" cy="1828800"/>
          </a:xfrm>
          <a:prstGeom prst="roundRect">
            <a:avLst/>
          </a:prstGeom>
          <a:solidFill>
            <a:srgbClr val="00B0F0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效率提升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自动化处理常规任务，人专注于决策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二、设计哲学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四大核心原则指导系统设计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F3F3F"/>
                </a:solidFill>
              </a:defRPr>
            </a:pPr>
            <a:r>
              <a:t>6/50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设计哲学：四大核心原则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F3F3F"/>
                </a:solidFill>
              </a:defRPr>
            </a:pPr>
            <a:r>
              <a:t>7/50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</a:defRPr>
            </a:pPr>
            <a:r>
              <a:t>HydroClaw认知智能体系 | 中国水利水电科学研究院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确定性用规则，不确定性用大模型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37160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37160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用户选了什么Skill就具备什么角色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5760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引擎通用不分领域，差异全在元件和参数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3657600"/>
            <a:ext cx="548640" cy="5486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5760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物理元件、水文元件、模型元件统一基类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