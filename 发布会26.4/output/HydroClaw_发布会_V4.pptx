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5943600" cy="594360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31546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封面主视觉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" cy="3200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HydroClaw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000"/>
                </a:solidFill>
                <a:latin typeface="Microsoft YaHei"/>
              </a:defRPr>
            </a:pPr>
            <a:r>
              <a:t>水网认知智能体系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AB4"/>
                </a:solidFill>
                <a:latin typeface="Microsoft YaHei"/>
              </a:defRPr>
            </a:pPr>
            <a:r>
              <a:t>从感知到决策，从工具到智慧  |  三层架构 · 多智能体 · 全端接入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7F7F"/>
                </a:solidFill>
                <a:latin typeface="Microsoft YaHei"/>
              </a:defRPr>
            </a:pPr>
            <a:r>
              <a:t>中国水利水电科学研究院  | 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64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产品愿景与定位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12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三层产品架构总览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761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Layer 1: HydroOS 计算底座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1012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Layer 2: HydroMAS 智能中枢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58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认知决策与技能体系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664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Layer 3: HydroTouch 多端接入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12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核心应用场景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614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技术纵深与安全合规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1012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发展路线图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858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9B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产品愿景与定位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水网全生命周期管理的多智能体智能决策平台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行业痛点与机遇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水网运行高度依赖人工经验，缺乏智能决策支撑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水文模型、水力学模型散落各处，无法统一调用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科研成果到工程落地存在巨大鸿沟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多端协同困难：办公室、调度中心、巡检现场断裂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AI大模型快速发展，水利行业亟需拥抱认知智能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智慧水网愿景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愿景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"让每一滴水都有AI守护</a:t>
            </a:r>
            <a:br/>
            <a:r>
              <a:t>让每一个水利人都有智能助手"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000"/>
                </a:solidFill>
                <a:latin typeface="Microsoft YaHei"/>
              </a:defRPr>
            </a:pPr>
            <a:r>
              <a:t>— HydroClaw 设计理念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HydroClaw 是什么？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水网全生命周期管理的多智能体智能决策平台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基于 HydroMAS 认知内核 + OpenClaw 代理架构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覆盖科研、设计、运维、教学四大场景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融合 CHS 理论体系：感知→认知→决策→控制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已实现：15 Agent + 17 Skill + 21 MCP Server + 1851 Tests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三层产品架构：HydroOS (算力) + HydroMAS (智能) + HydroTouch (接入)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愿景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核心数据一览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70AD47"/>
                </a:solidFill>
                <a:latin typeface="Microsoft YaHei"/>
              </a:defRPr>
            </a:pPr>
            <a:r>
              <a:t>1851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AD47"/>
                </a:solidFill>
                <a:latin typeface="Microsoft YaHei"/>
              </a:defRPr>
            </a:pPr>
            <a:r>
              <a:t>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全部通过的自动化测试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B9BD5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9BD5"/>
                </a:solidFill>
                <a:latin typeface="Microsoft YaHei"/>
              </a:defRPr>
            </a:pPr>
            <a:r>
              <a:t>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领域+DevOps+内容智能体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4472C4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标准化计算服务接口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D7D31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D7D31"/>
                </a:solidFill>
                <a:latin typeface="Microsoft YaHei"/>
              </a:defRPr>
            </a:pPr>
            <a: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可编排的业务工作流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愿景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六大产品版本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Personal 个人版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水利人的随身智库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基础问答 + 7B 轻量模型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个人知识管理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Mobile 移动版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巡检+语音+告警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1.5B 极轻量推理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离线可用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474720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Education 教育版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虚拟实验室+AI伴学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三大教材沉浸渲染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一键穿越沙箱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47472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Research 科研版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超级研究助理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文献检索+大跨度仿真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论文辅助写作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474720" cy="3657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Microsoft YaHei"/>
              </a:defRPr>
            </a:pPr>
            <a:r>
              <a:t>Design 设计版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AI总工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参数寻优+多方案设计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四级校审流程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4048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840480"/>
            <a:ext cx="3474720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O&amp;M 运维版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343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智能中枢神经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私有化部署+四预闭环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安全一票否决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愿景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三层产品架构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HydroOS + HydroMAS + HydroTouch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三层产品架构全景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三层架构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Layer 1: HydroOS (模型计算层) → Layer 2: HydroMAS (智能体层) → Layer 3: HydroTouch (多端接入层)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架构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三层职责划分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Microsoft YaHei"/>
              </a:defRPr>
            </a:pPr>
            <a:r>
              <a:t>HydroOS 计算底座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21个MCP标准化计算服务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Ray分布式并行计算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知识图谱(190节点/354边)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TDengine时序 + Neo4j图数据库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GPU加速ML/水动力计算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HydroMAS 智能中枢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15个AI Agent (领域+DevOps+内容)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17个Skill工作流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IntentRouter意图路由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ReActEngine执行引擎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记忆/会话/个性化/RBAC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474720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HydroTouch 多端接入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Web全功能仪表盘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飞书微应用(已集成)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HydroDesktop桌面端(Tauri)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Flutter移动端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手表/AR眼镜(探索)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架构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跨层通信协议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Layer 1 ↔ Layer 2:  gRPC (高性能、强类型Protobuf) + Kafka/Pulsar消息队列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Layer 2 ↔ Layer 3:  REST + WebSocket + SSE (Agent思考过程流式推送)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Layer 1 内部:  Ray Object Store (零拷贝内存共享)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统一认证:  OIDC/OAuth2.0 + Casdoor + 国密SM2/SM3/SM4全链路加密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数据同步:  CRDTs (Yjs/Automerge) 实现多端无冲突状态合并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语义缓存:  Redis + 向量匹配，高频查询绕过LLM直出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架构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五层架构详细展开 (L0-L4)</a:t>
            </a:r>
          </a:p>
        </p:txBody>
      </p:sp>
      <p:pic>
        <p:nvPicPr>
          <p:cNvPr id="3" name="Picture 2" descr="chart_architectur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L0 数据感知 → L1 分布式计算 → L2 MCP工具 → L3 技能编排 → L4 认知智能体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架构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Layer 1: HydroOS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云端/高性能服务器上的重型计算引擎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HydroOS 核心定位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提供水文水力学建模、ML推理、知识检索等核心算力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21个MCP Server: 水文(8) + 核心(5) + 外部(2) + 水网(4) + 知识(2)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分布式计算: Ray + Dask 并行仿真/优化/数据清洗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知识图谱: NetworkX → Neo4j, 190节点/354边/19领域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时序数据库: TDengine 实时存储水位/流量/雨量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扩容策略: Ray on K8s HPA, 防汛期自动扩容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14个核心算法模块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L0: 14个核心算法模块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simulation 仿真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水箱ODE模型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WNTR管网模型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数字孪生引擎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control 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PID控制器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MPC模型预测控制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阀门/泵站控制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47472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prediction 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线性/多项式预测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需求预测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混合蒸发预测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0480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048000"/>
            <a:ext cx="3474720" cy="3657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85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000"/>
                </a:solidFill>
                <a:latin typeface="Microsoft YaHei"/>
              </a:defRPr>
            </a:pPr>
            <a:r>
              <a:t>scheduling 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509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LP线性规划优化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全局调度优化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入流优化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0480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048000"/>
            <a:ext cx="3474720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185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identification 辨识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5509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ARX模型辨识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最小二乘参数ID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系统辨识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0480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048000"/>
            <a:ext cx="3474720" cy="3657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185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Microsoft YaHei"/>
              </a:defRPr>
            </a:pPr>
            <a:r>
              <a:t>water_balance 水平衡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5509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节点残差计算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全厂水平衡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异常检测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244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724400"/>
            <a:ext cx="3474720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61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evaporation 蒸发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273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Merkel冷却塔模型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焙烧蒸发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赤泥堆场蒸发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47244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724400"/>
            <a:ext cx="347472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861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detection 泄漏检测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2273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GNN图神经网络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声学传感器融合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管段定位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724400"/>
            <a:ext cx="3474720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0" y="4724400"/>
            <a:ext cx="3474720" cy="3657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861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7F7F"/>
                </a:solidFill>
                <a:latin typeface="Microsoft YaHei"/>
              </a:defRPr>
            </a:pPr>
            <a:r>
              <a:t>更多模块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227320"/>
            <a:ext cx="3108960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设计优化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评估评价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数据清洗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ODD安全域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回用水调度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L1: Ray 分布式计算引擎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Ray分布式计算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实时推理池(高优) + 长时演算池(低优) | GPU加速ML模型和2D水动力计算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L2: 21个MCP标准化服务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MCP服务矩阵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simulation | control | prediction | scheduling | evaluation | design | identification | water_balance | evaporation | leak_detection | reuse | hydrology(8) | CHS_RAG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8个水文学MCP服务详情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服务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04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518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类名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端口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82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96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核心工具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Runoff 产流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18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RunoffMCPServer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82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96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SCS-CN, 新安江, 简化产流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Routing 汇流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04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18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RoutingMCPServer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82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96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Muskingum, 单位线, M-C法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Calibration 率定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04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18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CalibrationMCPServer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82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96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EnKF自动率定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Precipitation 降水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604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18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PrecipitationMCPServer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182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096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IDW插值, 泰森多边形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Hydraulic 1D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04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18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Hydraulic1DMCPServer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182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096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稳态回水, Preissmann非恒定流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Hydraulic 2D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604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18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Hydraulic2DMCPServer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893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182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96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浅水方程, 溃坝模拟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Assimilation 同化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604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18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AssimilationMCPServer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93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182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96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EnKF, 粒子滤波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ML Hydro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604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518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MLHydroMCPServer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893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8027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182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096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特征工程, sklearn训练/预测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知识图谱与RAG检索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CHS知识图谱: 190节点, 354条边, 19个领域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覆盖: 水文学、水力学、水环境、控制论、方法论、应用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TF-IDF字符n-gram向量检索, 指纹缓存自动重建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关键词段落回退搜索 (无sklearn时)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工具: search_chs_knowledge, list_books, read_chapter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支持从飞书知识库同步文档, 扩展RAG数据源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CHS知识图谱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核心KPI指标体系</a:t>
            </a:r>
          </a:p>
        </p:txBody>
      </p:sp>
      <p:pic>
        <p:nvPicPr>
          <p:cNvPr id="3" name="Picture 2" descr="chart_kp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节水率、回用率、能效比、安全合规率 — 量化评价水网运行效果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Layer 2: HydroMAS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部署在用户服务器/桌面的智能中枢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HydroMAS 核心能力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IntentRouter: 规则(60%)+LLM(30%)+混合(10%) 意图路由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ReActEngine: 工具/技能执行引擎, 支持多步推理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15 Agents: 领域(7) + DevOps(4) + 内容(4)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17 Skills: 四预+诊断+调度+报告+开发+内容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RBAC 5角色: operator/designer/researcher/admin/teacher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Memory: 长期记忆+日记+时间衰减搜索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Session: per-user/per-group/main 多租户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个性化: SOUL/USER/IDENTITY 三层人格体系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15个AI智能体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15个AI智能体全览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975104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Orchestrator 编排器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主入口, 4级路由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协作工作流调度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13716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8064" y="1371600"/>
            <a:ext cx="1975104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Planning 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18745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任务分解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DAG依赖规划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3716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8" y="1371600"/>
            <a:ext cx="1975104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Analysis 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8745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灵活数据分析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水平衡/蒸发/回用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13716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96912" y="1371600"/>
            <a:ext cx="1975104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Report 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8745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Markdown报告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日报/泄漏报告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6336" y="13716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46336" y="1371600"/>
            <a:ext cx="1975104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9216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Safety 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18745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ODD守护者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12维安全边界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一票否决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480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048000"/>
            <a:ext cx="1975104" cy="3657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185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Microsoft YaHei"/>
              </a:defRPr>
            </a:pPr>
            <a:r>
              <a:t>Handuo 瀚铎LLM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509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RAG领域问答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水网大模型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8064" y="30480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98064" y="3048000"/>
            <a:ext cx="1975104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0944" y="3185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RL Dispatch 强化学习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35509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PPO/规则混合调度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水资源优化分配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7488" y="30480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47488" y="3048000"/>
            <a:ext cx="1975104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0368" y="3185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DevPlanner 开发规划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35509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需求→DAG计划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代码任务分解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6912" y="30480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96912" y="3048000"/>
            <a:ext cx="1975104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3185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DevReviewer 代码审查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35509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多维度Review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风格/逻辑/安全/性能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46336" y="30480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46336" y="3048000"/>
            <a:ext cx="1975104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6" y="31851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DevTester 测试生成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9216" y="35509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自动测试生成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质量门控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244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4724400"/>
            <a:ext cx="1975104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615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DevOrchestrator 开发编排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2273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Analyse→Plan→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Implement→Review→Test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98064" y="47244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98064" y="4724400"/>
            <a:ext cx="1975104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0944" y="48615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ContentPlanner 内容规划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0944" y="52273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需求→内容计划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多渠道排期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7488" y="47244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47488" y="4724400"/>
            <a:ext cx="1975104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0368" y="48615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ContentReviewer 内容审查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0368" y="52273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结构/风格/技术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合规性审查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96912" y="47244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96912" y="4724400"/>
            <a:ext cx="1975104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79792" y="48615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ContentPublisher 发布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79792" y="52273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飞书/微信/视频/PPT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多渠道发布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46336" y="4724400"/>
            <a:ext cx="1975104" cy="14935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46336" y="4724400"/>
            <a:ext cx="1975104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29216" y="48615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ContentOrchestrator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29216" y="5227320"/>
            <a:ext cx="1609344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全流程编排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写作→审查→发布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17个Skill工作流</a:t>
            </a:r>
          </a:p>
        </p:txBody>
      </p:sp>
      <p:pic>
        <p:nvPicPr>
          <p:cNvPr id="3" name="Picture 2" descr="chart_skill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S0原子(35个) → S1组合(15个) → S2流程(6个) | 四预+泄漏+蒸发+回用+调度+日报+开发+内容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核心Skill详解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四预闭环 FourPrediction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预报→预警→预演→预案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完整决策支持链路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泄漏诊断 LeakDiagnosis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水平衡→异常→GNN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→定位→声学融合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47472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蒸发优化 EvapOptimization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冷却塔→焙烧→赤泥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→总量→优化建议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474720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回用调度 ReuseScheduling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水质匹配→LP优化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→效益评估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474720" cy="3657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Microsoft YaHei"/>
              </a:defRPr>
            </a:pPr>
            <a:r>
              <a:t>全局调度 GlobalDispatch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43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需求预测→蒸发估算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→全局调度→ODD检查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4048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840480"/>
            <a:ext cx="3474720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日报生成 DailyReport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343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水平衡→异常→KPI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→蒸发→自动报告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多智能体基础设施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BaseAgent: 统一生命周期, AgentCard能力描述, AgentStatus状态管理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AgentMessage + MessageBus: 异步消息传递, 发布/订阅模式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AgentRegistry: 按能力/类型发现Agent, 动态注册与注销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AgentContext: 共享黑板 + 调用追踪(Span), 跨Agent状态传递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MultiAgentExecutor: DAG执行引擎, 并行/串行混合调度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AgentHealthMonitor: 健康监控, 心跳检测, 自动故障恢复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CapabilityNegotiator: 能力协商, 最佳Agent匹配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CircuitBreaker + RateLimiter: 熔断与限流保护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HydroClaw 工作台层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Personality: SOUL/USER/IDENTITY 三层人格体系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- SOUL.md: 小瀚 — 共享灵魂身份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- IDENTITY.md: 名称/表情/平台适配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- USER.md: 每组/每人个性化配置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Memory: 长期记忆 + 日记 + 关键词搜索 + 时间衰减评分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Session: per-user/per-group/main 三种作用域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RBAC: 5角色 × 3权限粒度(EXECUTE/READ/DENIED)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Heartbeat: 5项定期检查(系统健康/ODD/水平衡/记忆整理/资源)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Evolution: 交互日志→分析→开发→测试→部署 自进化流水线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意图路由与认知决策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七大通用计算引擎</a:t>
            </a:r>
          </a:p>
        </p:txBody>
      </p:sp>
      <p:pic>
        <p:nvPicPr>
          <p:cNvPr id="3" name="Picture 2" descr="chart_seven_eng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仿真 | 辨识 | 调度 | 控制 | 优化 | 预测 | 学习 — 覆盖水网全场景计算需求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边缘计算能力 (关键差异化)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本地LLM: Qwen-2.5-7B / Llama-3-8B via Ollama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→ 断网下可执行基础意图路由和文档问答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本地向量库: Chroma/pgvector 缓存知识图谱子集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→ 无需联网即可进行领域知识检索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离线预案: 预下载防汛预案SOP, 断网自动降级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→ 关键时刻(如通信中断)仍可执行应急响应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边缘驻留: Tauri桌面端 Rust+React, 内存极小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→ 适合水库/泵站等边缘节点7×24长期运行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Agent协作 vs 传统单体系统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YaHei"/>
              </a:defRPr>
            </a:pPr>
            <a:r>
              <a:t>传统单体系统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单一程序处理所有逻辑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模型耦合度高，修改牵一发动全身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无法动态扩展能力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故障扩散, 无隔离机制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人工配置所有工作流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无学习和进化能力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2004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484632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YaHei"/>
              </a:defRPr>
            </a:pPr>
            <a:r>
              <a:t>HydroClaw 多智能体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15个专项Agent各司其职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MCP标准接口, 松耦合组合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动态注册新Agent/Skill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熔断+限流+健康监控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IntentRouter自动编排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自进化流水线: 交互→分析→开发→测试→部署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HydroMAS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7CC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认知决策与技能体系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从意图理解到智能决策的完整链路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认知决策五步流程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认知决策流程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意图理解 → 技能匹配 → 规则加载 → 引擎执行 → 模板渲染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意图理解与路由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三种分类策略: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规则匹配(60%): 关键词、正则模式快速路由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LLM理解(30%): 复杂语义意图识别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混合模式(10%): LLM + 规则兜底保障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输入: '帮我分析一下双容水箱的控制效果'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输出: Intent(skill='S1-CTLD', role='researcher')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认知API映射 (CHS理论):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感知: forecast, data_analysis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认知: warning, odd_assessment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决策: rehearsal, plan, leak_diagnosis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控制: optimization_design, global_dispatch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意图路由器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五层规则继承体系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五层规则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L0安全底线(不可覆盖) → L1 Skill规则 → L2 产品规则 → L3 场景规则 → L4 案例参数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五层规则详解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975104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975104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Microsoft YaHei"/>
              </a:defRPr>
            </a:pPr>
            <a:r>
              <a:t>L0 安全底线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不可被任何层覆盖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水位上限/下限保护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设备安全阈值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紧急停机条件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1371600"/>
            <a:ext cx="1975104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98064" y="1371600"/>
            <a:ext cx="1975104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L1 Skill规则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187452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每个Skill携带角色规则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科研/设计/运维差异化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输入输出格式规范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371600"/>
            <a:ext cx="1975104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8" y="1371600"/>
            <a:ext cx="1975104" cy="3657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000"/>
                </a:solidFill>
                <a:latin typeface="Microsoft YaHei"/>
              </a:defRPr>
            </a:pPr>
            <a:r>
              <a:t>L2 产品规则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87452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6大版本各自配置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Personal/Edu/Design...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功能开放度不同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1371600"/>
            <a:ext cx="1975104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96912" y="1371600"/>
            <a:ext cx="1975104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L3 场景规则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187452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上下文相关的覆盖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防汛期 vs 日常运行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白天 vs 夜间值班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6336" y="1371600"/>
            <a:ext cx="1975104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46336" y="1371600"/>
            <a:ext cx="1975104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9216" y="1508760"/>
            <a:ext cx="16093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L4 案例参数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1874520"/>
            <a:ext cx="16093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用户可自定义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水箱面积/阀门参数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控制器增益/权重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技能体系: S0原子→S1组合→S2流程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三层技能体系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S0原子Skill(35个): 最小粒度计算操作 | S1组合Skill(15个): 固定工作流 | S2流程Skill(6个): 完整业务流程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S2 流程Skill (6个完整业务流程)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编号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04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518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名称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步骤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82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96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S2-4P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18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四预闭环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预报→预警→预演→预案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82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96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防汛调度、日常运行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S2-SIL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04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18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SIL策略验证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建模→控制器设计→仿真验证→报告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82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96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新控制策略上线前验证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S2-HIL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04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18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HIL硬件验证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SIL+硬件接口→实物测试→对比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82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96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控制器硬件在环测试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S2-MBD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604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18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MBD全流程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需求→建模→设计→仿真→优化→验证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182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096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Model-Based Design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S2-EMG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04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18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应急响应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感知→评估→预案→执行→复盘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182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096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突发洪水/设备故障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S2-EDU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604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18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教学实验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893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理论→建模→实验→分析→报告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182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96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水利工程教学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认知决策流程全景图</a:t>
            </a:r>
          </a:p>
        </p:txBody>
      </p:sp>
      <p:pic>
        <p:nvPicPr>
          <p:cNvPr id="3" name="Picture 2" descr="chart_cognitiv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从用户自然语言输入到结构化决策输出的完整数据流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24个响应模板 (覆盖CHS六要素)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24模板矩阵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状态查询 | 分析诊断 | 决策建议 | 控制指令 | 报告生成 | 知识问答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认知决策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AD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Layer 3: HydroTouch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八大终端全覆盖, 统一接入网关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多端设备全家福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多端接入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Web | 飞书微应用 | Desktop | Android/iOS | 鸿蒙 | 手表 | AR眼镜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HydroTouch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八大终端详细规划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终端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04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518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交互范式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8220" y="1188720"/>
            <a:ext cx="25831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9660" y="1234440"/>
            <a:ext cx="24460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Web 全功能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18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React + Vite + TailwindCSS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仪表盘、计算面板、图谱可视化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8220" y="1645920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9660" y="169164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P0 已实现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飞书微应用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04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18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飞书开放平台 + H5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嵌入办公流: 通知+审批+快查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18220" y="2029968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9660" y="207568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P0 已集成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HydroDesktop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04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18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Tauri (Rust+React)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本地建模、参数率定、离线运行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8220" y="2414016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9660" y="245973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Android App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604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518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Flutter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移动巡检、实时告警、语音指令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18220" y="2798064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09660" y="2843784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iOS 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04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518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Flutter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同Android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18220" y="3182112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09660" y="3227832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鸿蒙 App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604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18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ArkTS + Flutter适配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893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807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华为生态、IoT联动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18220" y="3566160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709660" y="3611880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智能手表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604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518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WatchOS/WearOS Widget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893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震动告警 + 语音指令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18220" y="3950208"/>
            <a:ext cx="25831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9660" y="3995928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AR 眼镜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604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518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ARKit/ARCore + WebXR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893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大坝巡检叠加实时数据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618220" y="4334256"/>
            <a:ext cx="25831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09660" y="4379976"/>
            <a:ext cx="24460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HydroTouch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HydroGateway 统一接入网关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所有终端 → HydroGateway → Layer 2 (HydroMAS)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统一认证: OIDC/OAuth2.0 + 国密SM2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Token携带: 用户ID + 角色 + 行政区划代码 + 流域权限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统一协议适配: REST / WebSocket / SSE / gRPC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流量控制: 熔断 + 限流 + 优先级队列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数据脱敏: 敏感坐标→相对坐标, 大模型输入脱敏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统一日志: 全链路追踪, 审计合规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HydroTouch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HydroDesktop 桌面端 (Tauri)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为什么选Tauri而不是Electron?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内存极小(~30MB vs 300MB+), 适合边缘长期驻留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Rust安全性, 无GC, 性能接近原生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Webview2前端, React组件复用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核心功能: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本地LLM离线推理 (Ollama)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本地知识图谱缓存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离线防汛预案SOP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3D水网拓扑可视化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AI对话助手面板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桌面端界面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HydroTouch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飞书深度集成 (6大场景)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场景1: 飞书机器人 → AI对话入口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@水网助手 当前水平衡状态如何？→ 实时数据返回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场景2: 多维表格 → 项目管理 + 数据看板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场景3: 知识库 → RAG增强 (规范/手册/案例)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场景4: 审批流 → 设计文件四级校审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场景5: 告警推送 → 卡片式实时监控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水平衡异常 → 飞书群告警卡片 → [一键诊断]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场景6: Webhook → 自动化流水线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飞书集成架构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HydroTouch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AR眼镜: 大坝巡检数字孪生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通过AR眼镜实现空间计算: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图像锚定: 自动识别物理水利设施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数据叠加: 实时水位/压力/流量覆盖在真实设施上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眼动追踪: 注视某设备 → 弹出数字孪生状态面板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手势交互: 挥手切换数据维度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语音指令: '显示上游水位趋势' → Agent执行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应用场景: 大坝定期巡检、管道巡查、设备维护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AR巡检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HydroTouch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7D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核心应用场景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科研 · 设计 · 运维 · 教学 四大场景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四预闭环: 预报→预警→预演→预案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四预闭环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HydroClaw 核心业务流程 — 从数据感知到应急响应的完整决策链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49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数字孪生水网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物理水网的虚拟镜像, 实时同步运行状态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核心能力: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DigitalTwinEngine: 状态估计+数据融合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实时水位/流量/压力映射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异常检测: 偏差超阈值自动报警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预演能力: 在孪生体上模拟各种调度方案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应用场景: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防汛调度预演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管网泄漏快速定位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设备故障影响预估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数字孪生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GNN泄漏检测与定位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基于图自编码器(GAT)的智能泄漏检测: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Step 1: 构建管网图结构 (节点=接合点, 边=管段)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Step 2: GAT注意力机制学习正常流态特征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Step 3: 重构误差异常 → 检测泄漏存在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Step 4: 注意力权重定位 → 锁定泄漏管段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Step 5: 声学传感器融合 → 精确定位泄漏点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LeakDiagnosisSkill端到端: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水平衡→异常检测→GNN定位→声学融合→报告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GNN泄漏检测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氧化铝厂水网智能化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日取水10,400m³ (乌江7,800 + 洪渠2,600)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12+车间节点, 蒸发损失~4,200m³/d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目标: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节水15-20%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回用率 36%→50%+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泵站能耗 -8~12%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已实现Skill: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EvapOptimization: Merkel+焙烧+赤泥多源耦合优化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GlobalDispatch: 需求→蒸发→调度→ODD检查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DailyReport: 自动化运行日报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氧化铝厂全景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调度中心大屏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调度中心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水网拓扑实时图 + 水平衡仪表盘 + AI调度建议 + 告警列表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现场运维移动端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运维人员手机端 (飞书App / 小程序):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今日巡检任务清单 (自动推送)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AI助手实时对话: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'3号冷却塔出水温度偏高,42°C'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→ Merkel模型分析: 正常范围35-38°C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→ 可能原因: 填料结垢或风机减速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→ [生成维修工单] [联系专家]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一键工单 → 飞书审批 → 维修 → 自动更新台账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现场运维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四大角色场景矩阵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37460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科研人员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写作+建模+管理=科研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论文辅助写作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PID/MPC对比仿真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可复现实验框架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文献检索+RAG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042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0420" y="1371600"/>
            <a:ext cx="2537460" cy="36576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472C4"/>
                </a:solidFill>
                <a:latin typeface="Microsoft YaHei"/>
              </a:defRPr>
            </a:pPr>
            <a:r>
              <a:t>设计人员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写作+建模+管理=MBD设计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水箱/管网尺寸优化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灵敏度分析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四级校审流程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规范自动引用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253746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运维人员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写作+建模=运维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实时监控+AI诊断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四预闭环日常执行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泄漏检测+定位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自动日报生成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398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3980" y="1371600"/>
            <a:ext cx="2537460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86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教学人员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86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虚拟实验室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一键穿越推演沙箱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AI伴学导师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三大教材沉浸渲染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学生实验自动评分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传统方法 vs HydroClaw 对比</a:t>
            </a:r>
          </a:p>
        </p:txBody>
      </p:sp>
      <p:pic>
        <p:nvPicPr>
          <p:cNvPr id="3" name="Picture 2" descr="chart_comparis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在响应速度、决策质量、自动化程度、多端协同等维度全面超越传统方式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6大E2E测试场景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7068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编号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84120" y="1188720"/>
            <a:ext cx="17068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75560" y="1234440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36720" y="1188720"/>
            <a:ext cx="17068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8160" y="1234440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188720"/>
            <a:ext cx="17068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234440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写作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920" y="1188720"/>
            <a:ext cx="17068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3360" y="1234440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建模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94520" y="1188720"/>
            <a:ext cx="17068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5960" y="1234440"/>
            <a:ext cx="1569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645920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69164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4120" y="1645920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75560" y="169164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双容水箱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6720" y="1645920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8160" y="169164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科研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645920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69164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论文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41920" y="1645920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33360" y="169164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PID/MPC仿真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4520" y="1645920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5960" y="169164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实验管理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029968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07568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84120" y="2029968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5560" y="207568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双容水箱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36720" y="2029968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8160" y="207568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设计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2029968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07568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设计说明书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1920" y="2029968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33360" y="207568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尺寸优化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94520" y="2029968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5960" y="2075688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校审流程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414016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45973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84120" y="2414016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75560" y="245973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双容水箱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6720" y="2414016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8160" y="245973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运维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2414016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245973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日报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1920" y="2414016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33360" y="245973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状态估计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4520" y="2414016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85960" y="2459736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维修工单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2798064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284378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84120" y="2798064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75560" y="284378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氧化铝厂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36720" y="2798064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8160" y="284378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科研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89320" y="2798064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80760" y="284378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蒸发论文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41920" y="2798064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33360" y="284378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多源耦合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94520" y="2798064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85960" y="2843784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数据管理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3182112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322783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D2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84120" y="3182112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75560" y="322783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氧化铝厂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36720" y="3182112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28160" y="322783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设计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89320" y="3182112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80760" y="322783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设计文件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41920" y="3182112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33360" y="322783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水网设计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494520" y="3182112"/>
            <a:ext cx="17068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85960" y="3227832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质量管控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3566160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36118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484120" y="3566160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75560" y="36118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氧化铝厂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236720" y="3566160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8160" y="36118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运维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89320" y="3566160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80760" y="36118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运行日报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741920" y="3566160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33360" y="36118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泄漏检测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494520" y="3566160"/>
            <a:ext cx="17068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85960" y="3611880"/>
            <a:ext cx="1569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调度管理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应用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技术纵深与安全合规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产品化的最后一公里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规则层继承体系</a:t>
            </a:r>
          </a:p>
        </p:txBody>
      </p:sp>
      <p:pic>
        <p:nvPicPr>
          <p:cNvPr id="3" name="Picture 2" descr="chart_rul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L0安全底线 → L1 Skill规则 → L2 产品规则 → L3 场景规则 → L4 案例参数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59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安全合规体系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等保三级/四级 认证准备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信创适配: 国产CPU/OS/数据库全链路验证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加密体系: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SM2: 非对称加密(公钥认证)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SM3: 哈希摘要(数据完整性)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SM4: 对称加密(数据传输)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访问控制: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OIDC/OAuth2.0 统一认证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RBAC + ABAC 混合授权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大模型输入脱敏Agent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审计日志全链路追踪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安全合规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自进化流水线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HydroClaw 独特的AI自我进化能力: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1. 交互日志记录 (JSONL格式)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2. EvolutionAnalyzer 自动分析: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 - 失败率统计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 - 慢响应检测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 - 技能缺口识别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3. Claude Code 自动开发修复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4. pytest 质量门控 (1851测试)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5. 自动部署到生产环境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定时任务: 每天凌晨3点自动执行全链路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自进化飞轮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边缘部署方案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推荐组合: 懒猫微服 LC-03 + AI算力舱 X3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LC-03 作为数据中心: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托管FastAPI Web平台 + TDengine + Neo4j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7盘位全固态, 96TB存储容量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内网穿透零配置远程访问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AI算力舱 X3: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Jetson Orin 64GB, 275 TOPS, 60W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运行GNN泄漏检测实时推理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  支持本地LLM (Qwen-2.5-7B)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  高校服务器做'重活'(训练), 边缘设备做'轻活'(推理)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914400"/>
            <a:ext cx="5303520" cy="530352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边缘部署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三族元件组件库</a:t>
            </a:r>
          </a:p>
        </p:txBody>
      </p:sp>
      <p:pic>
        <p:nvPicPr>
          <p:cNvPr id="3" name="Picture 2" descr="chart_component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物理元件(闸/泵/阀/管道) + 水文元件(降雨/径流/地下水) + 模型元件(神经网络/GNN/RL)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用户画像矩阵</a:t>
            </a:r>
          </a:p>
        </p:txBody>
      </p:sp>
      <p:pic>
        <p:nvPicPr>
          <p:cNvPr id="3" name="Picture 2" descr="chart_persona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科研人员/设计工程师/运维调度/教学场景 × 功能需求/工具偏好/痛点分析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技术栈统计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70AD47"/>
                </a:solidFill>
                <a:latin typeface="Microsoft YaHei"/>
              </a:defRPr>
            </a:pPr>
            <a:r>
              <a:t>1851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AD47"/>
                </a:solidFill>
                <a:latin typeface="Microsoft YaHei"/>
              </a:defRPr>
            </a:pPr>
            <a:r>
              <a:t>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pytest全覆盖自动化测试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B9BD5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9BD5"/>
                </a:solidFill>
                <a:latin typeface="Microsoft YaHei"/>
              </a:defRPr>
            </a:pPr>
            <a: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L0核心算法子模块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4472C4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标准化FastMCP服务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D7D31"/>
                </a:solidFill>
                <a:latin typeface="Microsoft YaHei"/>
              </a:defRPr>
            </a:pPr>
            <a:r>
              <a:t>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D7D31"/>
                </a:solidFill>
                <a:latin typeface="Microsoft YaHei"/>
              </a:defRPr>
            </a:pPr>
            <a: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HydroClaw工作台新增测试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4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发展路线图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从MVP到规模化的18个月旅程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五阶段发展路线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发展路线图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Phase A: MVP核心(当前) → B: 桌面+移动 → C: 多端同构 → D: IoT前沿 → E: 规模化商业化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路线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Phase A: MVP核心闭环 (当前, 0-3个月)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21 MCP Servers + 知识图谱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15 Agents + 17 Skills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IntentRouter + ReActEngine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Web前端(React) + 飞书集成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1851 Tests 全部通过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3657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000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FastAPI Hydrology路由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Docker部署打包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全链路E2E测试(Codex编写中)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认知决策层核心开发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474720" cy="3657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D5"/>
                </a:solidFill>
                <a:latin typeface="Microsoft YaHei"/>
              </a:defRPr>
            </a:pPr>
            <a:r>
              <a:t>计划中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Web前端功能增强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性能优化与压测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文档完善与API手册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首批试点用户接入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路线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Phase B-E: 中远期规划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37460" cy="36576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AD47"/>
                </a:solidFill>
                <a:latin typeface="Microsoft YaHei"/>
              </a:defRPr>
            </a:pPr>
            <a:r>
              <a:t>B: 桌面+移动 (3-6月)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HydroDesktop (Tauri+React)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Flutter App (Android/iOS)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HydroGateway统一网关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OIDC认证中心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042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0420" y="1371600"/>
            <a:ext cx="253746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C: 多端同构 (6-9月)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CRDTs多端状态同步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鸿蒙App适配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边缘计算节点部署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飞书微应用增强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2537460" cy="36576"/>
          </a:xfrm>
          <a:prstGeom prst="rect">
            <a:avLst/>
          </a:prstGeom>
          <a:solidFill>
            <a:srgbClr val="8E7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7CC3"/>
                </a:solidFill>
                <a:latin typeface="Microsoft YaHei"/>
              </a:defRPr>
            </a:pPr>
            <a:r>
              <a:t>D: IoT前沿 (9-12月)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智能手表适配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AR眼镜大坝巡检原型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语音终端(智能音箱)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主动播报水情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83980" y="1371600"/>
            <a:ext cx="253746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3980" y="1371600"/>
            <a:ext cx="253746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6860" y="1508760"/>
            <a:ext cx="21717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E: 规模化 (12-18月)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6860" y="1874520"/>
            <a:ext cx="21717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多流域/多省SaaS部署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算力市场(按需付费)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插件市场(第三方扩展)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信创认证+等保测评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69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路线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发展时间线详图</a:t>
            </a:r>
          </a:p>
        </p:txBody>
      </p:sp>
      <p:pic>
        <p:nvPicPr>
          <p:cNvPr id="3" name="Picture 2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从MVP到商业化的完整里程碑规划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路线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关键技术决策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4594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决策点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6720" y="1188720"/>
            <a:ext cx="34594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8160" y="123444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选择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41920" y="1188720"/>
            <a:ext cx="3459480" cy="411480"/>
          </a:xfrm>
          <a:prstGeom prst="round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3360" y="1234440"/>
            <a:ext cx="332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桌面端框架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6720" y="1645920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8160" y="169164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Tauri (非Electron)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1920" y="1645920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3360" y="169164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内存极小, Rust安全, 适合边缘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029968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075688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移动端框架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6720" y="2029968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8160" y="2075688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Flutter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41920" y="2029968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3360" y="2075688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一码三端 (Android/iOS/鸿蒙)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414016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459736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L1↔L2 通信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36720" y="2414016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8160" y="2459736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gRPC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41920" y="2414016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3360" y="2459736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强类型 + 高性能 + 流式支持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798064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2843784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L2↔L3 通信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36720" y="2798064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28160" y="2843784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REST+WS+SSE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41920" y="2798064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3360" y="2843784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Agent思考过程流式推送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182112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227832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图数据库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6720" y="3182112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8160" y="3227832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Neo4j → NebulaGraph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41920" y="3182112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3360" y="3227832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分布式支持更好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566160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61188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本地LLM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36720" y="3566160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28160" y="361188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Qwen-2.5-7B via Ollama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41920" y="3566160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33360" y="3611880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中文能力强, 资源需求适中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0208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995928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状态同步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36720" y="3950208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8160" y="3995928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CRDTs (Yjs)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41920" y="3950208"/>
            <a:ext cx="3459480" cy="36576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33360" y="3995928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无冲突合并, 支持弱网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334256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379976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加密方案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36720" y="4334256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28160" y="4379976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国密 SM2/SM3/SM4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41920" y="4334256"/>
            <a:ext cx="3459480" cy="36576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33360" y="4379976"/>
            <a:ext cx="332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水利行业合规要求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路线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开源技术栈全览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语言: Python 3.11+, Rust (Tauri), TypeScript (React)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计算: NumPy, SciPy, PuLP (LP优化), Ray (分布式)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AI/ML: PyTorch, torch_geometric (GNN), scikit-learn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水利: WNTR (EPANET管网), 自研水文MCP集群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Web: FastAPI + Jinja2 + React + Vite + TailwindCSS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协议: FastMCP (工具协议), gRPC (层间通信)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数据: TDengine (时序), Neo4j (图), SQLite (边缘)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部署: Docker + K8s + Ollama (本地LLM)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测试: pytest + pytest-asyncio, 1851 tests 全通过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CI/CD: GitHub Actions + 自进化流水线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Docker多实例部署架构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docker-compose.yml 编排: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hydroclaw: 主服务 (FastAPI + 15 Agent + 17 Skill)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tdengine: 时序数据库 (水位/流量/雨量)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neo4j: 图数据库 (知识图谱)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OpenClaw 多实例 (个性化部署):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openclaw-admin: 管理员角色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openclaw-student-a/b: 学生实例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openclaw-peer: 同行评审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openclaw-dev: 开发调试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每个实例挂载独立人格文件, 共享核心引擎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与主流平台对比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F7F7F"/>
                </a:solidFill>
                <a:latin typeface="Microsoft YaHei"/>
              </a:defRPr>
            </a:pPr>
            <a:r>
              <a:t>传统水利软件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单一功能(仿真/制图)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无AI决策能力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桌面单机运行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人工操作为主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474720" cy="3657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D7D31"/>
                </a:solidFill>
                <a:latin typeface="Microsoft YaHei"/>
              </a:defRPr>
            </a:pPr>
            <a:r>
              <a:t>通用AI平台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无水利领域知识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幻觉问题严重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无物理模型校验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无法离线运行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47472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HydroClaw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CHS理论+AI+物理模型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MCP工具校验防幻觉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三层架构灵活部署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离线+在线双模式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1851测试质量保证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伴随式学习与知识飞轮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W-L-A 学习闭环 (Watch-Learn-Act):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1. Watch: 用户在知识门户阅读教材, 划线提问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→ AI结合教材上下文精准解答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2. Learn: 点击[在沙箱推演], 浏览器穿越到HydroWeb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→ 底层瞬间拉起隔离沙箱跑仿真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3. Act: 成功解决真实调控问题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   → 系统检测'测试通过'信号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知识捕获: 成功经验自动入库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交叉审查: 多引擎验证防幻觉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专家入库: Admin审批 → YAML → RAG热更新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技术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4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Part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Microsoft YaHei"/>
              </a:defRPr>
            </a:pPr>
            <a:r>
              <a:t>让水网拥有认知智能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项目成果总结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B9BD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9BD5"/>
                </a:solidFill>
                <a:latin typeface="Microsoft YaHei"/>
              </a:defRPr>
            </a:pPr>
            <a:r>
              <a:t>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产品架构</a:t>
            </a:r>
            <a:br/>
            <a:r>
              <a:t>HydroOS+MAS+Touch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70AD47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AD47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AI智能体</a:t>
            </a:r>
            <a:br/>
            <a:r>
              <a:t>领域+DevOps+内容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4472C4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YaHei"/>
              </a:defRPr>
            </a:pPr>
            <a:r>
              <a:t>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MCP服务</a:t>
            </a:r>
            <a:br/>
            <a:r>
              <a:t>标准化计算接口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0116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D7D31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D7D31"/>
                </a:solidFill>
                <a:latin typeface="Microsoft YaHei"/>
              </a:defRPr>
            </a:pPr>
            <a:r>
              <a:t>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114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AB4"/>
                </a:solidFill>
                <a:latin typeface="Microsoft YaHei"/>
              </a:defRPr>
            </a:pPr>
            <a:r>
              <a:t>产品版本</a:t>
            </a:r>
            <a:br/>
            <a:r>
              <a:t>覆盖全行业形态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展望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核心竞争优势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唯一融合CHS水网理论的认知智能平台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三层架构: 计算与智能分离, 灵活部署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多Agent协作: 超越单一AI的集体智慧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全端接入: 从桌面到AR眼镜, 无处不在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自进化能力: 越用越聪明的AI系统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信创合规: 满足水利行业安全要求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开源生态: MCP标准接口, 社区可扩展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  学术+工程双轮驱动: 高校科研→产业落地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展望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自进化飞轮: 越用越智能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11247120" cy="512064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自进化飞轮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AB4"/>
                </a:solidFill>
                <a:latin typeface="Microsoft YaHei"/>
              </a:defRPr>
            </a:pPr>
            <a:r>
              <a:t>交互日志 → 进化分析 → 自动开发 → 测试门控 → 部署 → 用户交互 →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F7F7F"/>
                </a:solidFill>
                <a:latin typeface="Microsoft YaHei"/>
              </a:defRPr>
            </a:pPr>
            <a:r>
              <a:t>79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492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7F7F"/>
                </a:solidFill>
                <a:latin typeface="Microsoft YaHei"/>
              </a:defRPr>
            </a:pPr>
            <a:r>
              <a:t>展望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4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3154680"/>
            <a:ext cx="11643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AB4"/>
                </a:solidFill>
                <a:latin typeface="Microsoft YaHei"/>
              </a:defRPr>
            </a:pPr>
            <a:r>
              <a:t>[AI生成图片占位] 结语愿景图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8503920" cy="32004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HydroClaw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657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C000"/>
                </a:solidFill>
                <a:latin typeface="Microsoft YaHei"/>
              </a:defRPr>
            </a:pPr>
            <a:r>
              <a:t>让每一滴水都有AI守护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7F7F"/>
                </a:solidFill>
                <a:latin typeface="Microsoft YaHei"/>
              </a:defRPr>
            </a:pPr>
            <a:r>
              <a:t>中国水利水电科学研究院  |  hydroclaw@iwhr.com  |  2026.04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