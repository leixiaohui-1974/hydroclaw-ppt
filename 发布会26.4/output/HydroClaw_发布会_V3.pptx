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4864" cy="32004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HydroClaw 认知智能体系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C000"/>
                </a:solidFill>
                <a:latin typeface="Microsoft YaHei"/>
              </a:defRPr>
            </a:pPr>
            <a:r>
              <a:t>从全民养虾到水网自主运行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7F7F"/>
                </a:solidFill>
                <a:latin typeface="Microsoft YaHei"/>
              </a:defRPr>
            </a:pPr>
            <a:r>
              <a:t>垂直大模型 + 个人水网智能体 + 数字孪生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F7F7F"/>
                </a:solidFill>
                <a:latin typeface="Microsoft YaHei"/>
              </a:defRPr>
            </a:pPr>
            <a:r>
              <a:t>中国水利水电科学研究院  | 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371600" cy="36576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6420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一、核心价值与挑战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0428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二、设计哲学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4436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三、总体架构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59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84447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四、垂直大模型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2452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五、个人水网智能体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66420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六、认知决策层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30428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七、技能编排层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94436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八、计算引擎层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59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584447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九、对象层与元件库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062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B9BD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22452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十、应用案例与展望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第一部分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核心价值与挑战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水利行业数字化转型的根本性挑战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一、核心价值与挑战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水利行业的「全民养虾」困境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3200400"/>
            <a:ext cx="1005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C000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035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303520" cy="54864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0000"/>
                </a:solidFill>
                <a:latin typeface="Microsoft YaHei"/>
              </a:defRPr>
            </a:pPr>
            <a:r>
              <a:t>当前困境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每个水利项目都在「养虾」—— 养一套自己的软件系统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软件碎片化：同一个水网，10个系统各管一段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数据孤岛：监测数据、模型数据、调度数据互不相通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重复造轮子：每个设计院都在写相似的计算程序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依赖个人经验：资深工程师退休=知识流失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无法自主运行：所有决策都需要人工干预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97280"/>
            <a:ext cx="53035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097280"/>
            <a:ext cx="5303520" cy="5486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3716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D7D31"/>
                </a:solidFill>
                <a:latin typeface="Microsoft YaHei"/>
              </a:defRPr>
            </a:pPr>
            <a:r>
              <a:t>根本原因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缺乏统一的认知智能框架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通用大模型不懂水利专业知识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没有把「规则」和「AI」有机结合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没有标准化的元件库和引擎体系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没有「选Skill即获角色」的设计理念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各环节无法形成认知闭环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一、核心价值与挑战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HydroClaw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383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5B9BD5"/>
                </a:solidFill>
                <a:latin typeface="Microsoft YaHei"/>
              </a:defRPr>
            </a:pPr>
            <a:r>
              <a:t>10×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F7F7F"/>
                </a:solidFill>
                <a:latin typeface="Microsoft YaHei"/>
              </a:defRPr>
            </a:pPr>
            <a:r>
              <a:t>设计全流程自动化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828800"/>
            <a:ext cx="3383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5B9BD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84048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统一框架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38912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F7F7F"/>
                </a:solidFill>
                <a:latin typeface="Microsoft YaHei"/>
              </a:defRPr>
            </a:pPr>
            <a:r>
              <a:t>认知-技能-引擎-对象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3383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5B9BD5"/>
                </a:solidFill>
                <a:latin typeface="Microsoft YaHei"/>
              </a:defRPr>
            </a:pPr>
            <a:r>
              <a:t>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40480"/>
            <a:ext cx="3383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场景覆盖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8912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F7F7F"/>
                </a:solidFill>
                <a:latin typeface="Microsoft YaHei"/>
              </a:defRPr>
            </a:pPr>
            <a:r>
              <a:t>设计/运维/科研/教学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第二部分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设计哲学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四句话概括整个方案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二、设计哲学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四大核心设计原则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537460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B9BD5"/>
                </a:solidFill>
                <a:latin typeface="Microsoft YaHei"/>
              </a:defRPr>
            </a:pPr>
            <a:r>
              <a:t>原则1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确定性的事用规则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不确定性的事用大模型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大模型的输出用规则兜底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规则处理60%交互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大模型处理30%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混合处理10%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8979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68979" y="1097280"/>
            <a:ext cx="2537460" cy="5486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3299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D7D31"/>
                </a:solidFill>
                <a:latin typeface="Microsoft YaHei"/>
              </a:defRPr>
            </a:pPr>
            <a:r>
              <a:t>原则2：Skill即角色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299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用户选了什么Skill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就具备什么角色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行为即身份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无需声明角色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无需切换模式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自动加载规则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59" y="1097280"/>
            <a:ext cx="2537460" cy="54864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0AD47"/>
                </a:solidFill>
                <a:latin typeface="Microsoft YaHei"/>
              </a:defRPr>
            </a:pPr>
            <a:r>
              <a:t>原则3：通用引擎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引擎通用不分领域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差异全在元件和参数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七大引擎与领域无关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纯算法，不知道算什么水网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新场景=新元件，无需改引擎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2540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92540" y="1097280"/>
            <a:ext cx="2537460" cy="54864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860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E7CC3"/>
                </a:solidFill>
                <a:latin typeface="Microsoft YaHei"/>
              </a:defRPr>
            </a:pPr>
            <a:r>
              <a:t>原则4：统一基类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860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物理元件、水文元件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模型元件统一基类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混合组装任意水网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统一compute()接口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&gt;&gt; 像搭积木一样组装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二、设计哲学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原则1详解：大模型与规则协同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规则引擎处理（~60%交互）—— 确定性场景：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查询闸门当前水位、执行标准巡检流程、ODD阈值判别、预警等级确定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大模型处理（~30%交互）—— 需要理解和推理：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分析工况并推荐方案、设计方案比选、跨域关联分析、可解释性生成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大模型主导+规则兜底（~10%）—— 开放性问题：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未预见的异常工况、科研探索性讨论、应急情况类比推理、创新方案构想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核心机制：大模型生成方案 -&gt; 规则引擎校核 -&gt; 反馈修正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安全底线：规则只紧不松、不编造数据、不确定性必须声明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二、设计哲学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原则2详解：Skill即角色 —— 行为即身份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传统做法：用户先选角色 -&gt; 再选功能 -&gt; 规则静态绑定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HydroClaw：用户直接选Skill -&gt; 自动获得角色 -&gt; 规则动态加载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示例：同一个用户无缝切换：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上午用「仿真对比」Skill -&gt; 自动进入科研模式 -&gt; 深度分析输出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下午用「ODD预警」Skill -&gt; 自动进入运维模式 -&gt; 简洁步骤输出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同一个B2预警模板，不同Skill上下文自动调整：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运维Skill触发 -&gt; 简洁步骤式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科研Skill触发 -&gt; 深度分析 + 论文引用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技能继承体系：原子Skill -&gt; 组合Skill -&gt; 流程Skill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每个Skill自带 (role, level) 二元标签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二、设计哲学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原则3&amp;4：通用引擎 + 统一基类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通用引擎 —— 与领域无关的纯算法：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仿真引擎不知道自己在算城市供水还是河道防洪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优化引擎不关心优化的是泵站启停还是闸门序列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新增场景 = 新增元件 + 参数，引擎代码不变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统一基类 —— 三族元件混合组装：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物理元件(闸泵阀库河渠) + 水文元件(降雨产汇流)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+ 模型元件(LSTM/GNN/RL策略)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统一 compute(state, inputs, dt) -&gt; dict 接口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同一个水网里可以同时有物理元件和AI模型元件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这意味着：物理仿真和AI预测可以在同一个管线中混合使用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A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第三部分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四层设计，单向调用，各层只依赖下一层统一接口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四层智能决策体系</a:t>
            </a:r>
          </a:p>
        </p:txBody>
      </p:sp>
      <p:pic>
        <p:nvPicPr>
          <p:cNvPr id="4" name="Picture 3" descr="chart_architecture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四层之间的调用关系是单向的：①调②，②调③，③驱动④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三、总体架构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四层架构详解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537460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B9BD5"/>
                </a:solidFill>
                <a:latin typeface="Microsoft YaHei"/>
              </a:defRPr>
            </a:pPr>
            <a:r>
              <a:t>① 认知决策层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大模型 + 规则引擎 + 模板渲染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理解意图、选择Skill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约束行为、格式化输出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五层规则继承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24个回复模板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8979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68979" y="1097280"/>
            <a:ext cx="2537460" cy="5486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3299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D7D31"/>
                </a:solidFill>
                <a:latin typeface="Microsoft YaHei"/>
              </a:defRPr>
            </a:pPr>
            <a:r>
              <a:t>② 技能编排层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299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Skill体系：原子-&gt;组合-&gt;流程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知道做什么、按什么顺序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编排逻辑是领域知识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~25个原子 + ~10组合 + ~6流程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59" y="1097280"/>
            <a:ext cx="2537460" cy="54864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0AD47"/>
                </a:solidFill>
                <a:latin typeface="Microsoft YaHei"/>
              </a:defRPr>
            </a:pPr>
            <a:r>
              <a:t>③ 计算引擎层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七大通用引擎 + 工具箱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怎么算 -- 纯算法，不分领域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仿真/辨识/调度/控制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优化/预测/学习 + 100+工具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2540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92540" y="1097280"/>
            <a:ext cx="2537460" cy="54864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860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C000"/>
                </a:solidFill>
                <a:latin typeface="Microsoft YaHei"/>
              </a:defRPr>
            </a:pPr>
            <a:r>
              <a:t>④ 对象层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860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三族元件库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物理/水文/模型 统一基类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水网组装 + 外部工具接入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算什么 -- 具体元件实例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三、总体架构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数据流向与调用关系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用户输入 -&gt; 认知决策层：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大模型解析意图，规则引擎匹配确定性场景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确定调用哪个Skill，自动加载L0-L4规则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认知层 -&gt; 技能编排层：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Skill按预定义的编排逻辑，依次调用引擎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编排逻辑是硬编码的领域知识，不由大模型即兴决定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技能层 -&gt; 计算引擎层：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引擎提供统一接口：simulate / predict / optimize / learn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引擎内部可切换后端：自研HydroOS / EPANET / HEC-RAS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引擎层 &lt;-&gt; 对象层：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引擎读取元件参数，驱动元件计算，更新元件状态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三、总体架构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架构优势分析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可扩展性：新增引擎或技能不影响其他层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接入WNTR管网后端 = 1个MCP工具 + 1个S0 Skill包装，上层S1/S2不变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可维护性：各层职责清晰，代码内聚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认知层只管理解和约束，不做计算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引擎层只管算法，不知道业务语境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可复用性：引擎和技能可被多场景复用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同一个优化引擎，城市供水和河道防洪都可调用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可测试性：各层可独立测试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SIL平台天然就是RL训练场和验证环境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安全性：L0安全底线不可覆盖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7CC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第四部分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垂直大模型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通用大模型 vs 水利垂直大模型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四、垂直大模型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通用大模型 vs 垂直大模型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3200400"/>
            <a:ext cx="1005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C000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035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303520" cy="54864"/>
          </a:xfrm>
          <a:prstGeom prst="round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F7F7F"/>
                </a:solidFill>
                <a:latin typeface="Microsoft YaHei"/>
              </a:defRPr>
            </a:pPr>
            <a:r>
              <a:t>通用大模型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广泛知识但缺乏水利专业深度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不了解水利规范和标准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可能给出物理上不可能的方案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没有工程安全意识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无法进行专业计算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幻觉风险高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97280"/>
            <a:ext cx="53035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097280"/>
            <a:ext cx="5303520" cy="54864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37160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E7CC3"/>
                </a:solidFill>
                <a:latin typeface="Microsoft YaHei"/>
              </a:defRPr>
            </a:pPr>
            <a:r>
              <a:t>HydroClaw垂直大模型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水利规范知识库（RAG增强）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工程案例库（历史最佳实践）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物理约束体系（流速/压力/管径等）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规则引擎兜底（大模型失效时接管）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五层规则继承（L0安全底线不可覆盖）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不确定性必须声明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四、垂直大模型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水利规范知识库 + 工程案例库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水利规范知识库（RAG增强检索）：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设计规范：管径选择、流速限制、安全系数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运行规程：调度规则、应急预案、巡检标准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施工标准：工艺要求、质量控制、验收标准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工程案例库（历史最佳实践）：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中线工程：冰期 Fr&lt;=0.06，水位变化率&lt;=0.3m/h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胶东调水：泵站群启动先下游后上游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双容水箱：溢流口高度、映射知识点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物理约束体系：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质量守恒、能量守恒不可违反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管道流速、水泵工作点必须在合理范围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安全约束只能收紧、不能放松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四、垂直大模型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规则引擎兜底机制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为什么需要兜底？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大模型可能产生幻觉 -- 规则引擎校验物理可行性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大模型可能遗漏约束 -- 规则引擎补充必要校核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大模型可能过于保守或激进 -- 规则引擎约束到合理范围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兜底机制三层防线：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1. 实时校核：大模型每次输出，规则引擎同步验证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2. 物理预演：涉及执行的方案必须通过仿真验证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3. 人工确认：涉及实际操作的指令需二次确认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L0安全底线（不可覆盖）：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物理守恒定律不可违反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安全约束只紧不松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不编造数据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不确定性必须声明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传统方法 vs HydroClaw 能力对比</a:t>
            </a:r>
          </a:p>
        </p:txBody>
      </p:sp>
      <p:pic>
        <p:nvPicPr>
          <p:cNvPr id="4" name="Picture 3" descr="chart_compariso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第五部分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个人水网智能体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选Skill即获角色，行为即身份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四大角色 -- 选Skill即获角色</a:t>
            </a:r>
          </a:p>
        </p:txBody>
      </p:sp>
      <p:pic>
        <p:nvPicPr>
          <p:cNvPr id="4" name="Picture 3" descr="chart_persona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五、个人水网智能体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设计工程师场景 -- 个人超级工具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474720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B9BD5"/>
                </a:solidFill>
                <a:latin typeface="Microsoft YaHei"/>
              </a:defRPr>
            </a:pPr>
            <a:r>
              <a:t>泵站选型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输入：设计流量、扬程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过程：性能曲线拟合、变频/工频决策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输出：选型报告 + 全工况曲线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L0: 出选型计算书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L1: 泵型比选决策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L2: 跨专业协调审批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3474720" cy="5486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D7D31"/>
                </a:solidFill>
                <a:latin typeface="Microsoft YaHei"/>
              </a:defRPr>
            </a:pPr>
            <a:r>
              <a:t>断面优化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输入：水力条件、地形约束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过程：多目标优化搜索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输出：最优断面 + 对比分析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替代传统Excel试算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自动满足设计规范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0" y="1097280"/>
            <a:ext cx="3474720" cy="54864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0AD47"/>
                </a:solidFill>
                <a:latin typeface="Microsoft YaHei"/>
              </a:defRPr>
            </a:pPr>
            <a:r>
              <a:t>管网计算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输入：管网拓扑、需水量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过程：WNTR/EPANET仿真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输出：压力分布 + 流量平衡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可接入已有INP模型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泄漏检测与定位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五、个人水网智能体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运维 / 科研 / 教学场景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474720" cy="5486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D7D31"/>
                </a:solidFill>
                <a:latin typeface="Microsoft YaHei"/>
              </a:defRPr>
            </a:pPr>
            <a:r>
              <a:t>运维人员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智能运维助手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ODD预警：水位超限自动上报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故障诊断：多因素根因分析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调度优化：全局最优分配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应急响应：保守策略优先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三级权限：现地/管理段/调度中心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3474720" cy="54864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0AD47"/>
                </a:solidFill>
                <a:latin typeface="Microsoft YaHei"/>
              </a:defRPr>
            </a:pPr>
            <a:r>
              <a:t>科研人员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科研实验平台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仿真对比：多算法并行验证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参数辨识：UKF/EnKF自动校准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RL策略：PPO/SAC自动训练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论文级深度输出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三级权限：硕士/博士副研/PI博导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0" y="1097280"/>
            <a:ext cx="3474720" cy="54864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E7CC3"/>
                </a:solidFill>
                <a:latin typeface="Microsoft YaHei"/>
              </a:defRPr>
            </a:pPr>
            <a:r>
              <a:t>学生教师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智能教学助手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分层引导：S0科普 -&gt; S3研究生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苏格拉底式提问引导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大专生：步骤式操作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本科生：参数调整实验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研究生：自主设计实验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教师端：场景配置 + 自动评估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五、个人水网智能体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层级决定深度，而非能否使用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同一个Skill，不同层级的行为完全不同：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以「泵站选型」为例：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designer_L0（设计员）：按参数查手册，出计算书，需L1校核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designer_L1（专业负责人）：泵型比选，变频决策，修改参数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designer_L2（总工）：跨专业协调，决定标准，批准非标方案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以「水位控制实验」为例：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student_S0（低年级）：只观看动画演示，类比式解释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student_S1（大专生）：操作启停，不能改参数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student_S2（本科生）：调PID参数，苏格拉底引导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student_S3（研究生）：自行设计MPC，开放探索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用户层级怎么确定？Skill菜单本身就是权限边界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第六部分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认知决策层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大模型 + 规则引擎 + 模板渲染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认知决策五步流程</a:t>
            </a:r>
          </a:p>
        </p:txBody>
      </p:sp>
      <p:pic>
        <p:nvPicPr>
          <p:cNvPr id="4" name="Picture 3" descr="chart_cognitiv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每次用户交互，认知层执行固定五步：意图理解 -&gt; Skill匹配 -&gt; 规则加载 -&gt; Skill执行 -&gt; 模板渲染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五层规则继承体系</a:t>
            </a:r>
          </a:p>
        </p:txBody>
      </p:sp>
      <p:pic>
        <p:nvPicPr>
          <p:cNvPr id="4" name="Picture 3" descr="chart_rul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规则从Skill选择自动加载，用户不需要声明角色、不需要切换模式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六、认知决策层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24个回复模板 -- 继承组合避免模板爆炸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基于CHS六要素（Plant-Actuator-Sensor-Disturbance-Constraint-Objective）：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T0 六要素基类：T0-S状态查询 / T0-A分析诊断 / T0-D决策建议（3个原子模板）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T1-T3 对象子模板（7个）：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T1 执行器类：status / diagnosis / control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T2 蓄水体类：status / prediction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T3 输水体类：status / simulation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B1-B6 业务模板（6个）：预报/预警/预演/预案/SIL/HIL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W1-W6 工作流模板（6个）：四预闭环/SIL验证/HIL验证/MBD全流程/应急/教学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角色适配：不增加模板，用修饰器调整输出深度和术语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案例适配：不增加模板，用L4参数填充具体数值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六、认知决策层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同一模板，不同Skill自动调整输出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6858000" cy="5303520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# B2预警模板 - 运维Skill触发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&gt;&gt;&gt; skill = 'ODD预警'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&gt;&gt;&gt; context = 'operator_L1'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输出：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⚠ 渠池2水位42.35m超限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立即上报L1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建议：开启3号闸门泄流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# B2预警模板 - 科研Skill触发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&gt;&gt;&gt; skill = '仿真对比'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&gt;&gt;&gt; context = 'researcher_L1'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输出：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Saint-Venant分析显示上游闸门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调整后波前传播时间约45min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当前状态为积分饱和特征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参见Malaterre(2004)...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模板机制要点：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同一个B2预警模板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不同Skill上下文自动切换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运维Skill触发：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- 简洁步骤式输出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- 直接给出行动建议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- 语言简练，重点突出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科研Skill触发：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- 深度分析输出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- 包含数学推导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- 引用学术文献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- 详细物理解释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这就是「Skill即角色」的威力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第七部分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技能编排层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Skill体系：原子 -&gt; 组合 -&gt; 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Skill三层继承体系</a:t>
            </a:r>
          </a:p>
        </p:txBody>
      </p:sp>
      <p:pic>
        <p:nvPicPr>
          <p:cNvPr id="4" name="Picture 3" descr="chart_skill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S0原子Skill封装单个MCP工具调用 | S1组合Skill编排多个S0 | S2流程Skill编排多个S1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七、技能编排层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原子Skill清单（按引擎分类）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474720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B9BD5"/>
                </a:solidFill>
                <a:latin typeface="Microsoft YaHei"/>
              </a:defRPr>
            </a:pPr>
            <a:r>
              <a:t>仿真/辨识/调度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仿真类 (6个):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明渠/管网/水库/水箱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水锤/冰期仿真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辨识类 (5个):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糙率/泵曲线/闸系数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UKF状态估计/模型校准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调度类 (5个):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全局优化/泵站经济运行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闸门序列/水平衡/水库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3474720" cy="5486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D7D31"/>
                </a:solidFill>
                <a:latin typeface="Microsoft YaHei"/>
              </a:defRPr>
            </a:pPr>
            <a:r>
              <a:t>控制/检测/预测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控制类 (4个):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PID/MPC/DMPC/控制器评估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检测评估类 (5个):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ODD检查/泄漏检测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异常检测/WNAL评估/蒸发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预测类 (5个):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概念水文模型预报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LSTM/Transformer时序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GNN图网络/降阶模型/混合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097280"/>
            <a:ext cx="347472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0" y="1097280"/>
            <a:ext cx="3474720" cy="54864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0AD47"/>
                </a:solidFill>
                <a:latin typeface="Microsoft YaHei"/>
              </a:defRPr>
            </a:pPr>
            <a:r>
              <a:t>学习/工具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学习类 (5个):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RL策略训练/部署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模仿学习/在线学习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模型训练管理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工具类 (18个):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数据清洗/时序重采样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曲线拟合/频率分析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模型诊断/报告生成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单位换算/公式计算器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七、技能编排层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组合Skill与流程Skill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组合Skill（~15个）—— 编排多个S0完成业务功能：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S1-FCST预报 = UKF状态估计 -&gt; 仿真/数据预测 -&gt; 不确定性量化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S1-WARN预警 = ODD检查 -&gt; 趋势预测 -&gt; 预警等级判定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S1-RHSL预演 = 方案解析 -&gt; 闭环仿真 -&gt; 约束校核 -&gt; 方案排序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S1-SIL测试 = 工况加载 -&gt; 闭环仿真xN -&gt; 性能评估 -&gt; 准入判定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S1-TRAIN训练 = 数据准备 -&gt; 训练 -&gt; 验证 -&gt; 版本管理 -&gt; 部署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流程Skill（~6个）—— 编排多个S1完成完整流程：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S2-4P四预闭环 = 预报 -&gt; 预警 -&gt; 预演 -&gt; 预案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S2-MBD全流程 = ODD定义 -&gt; 控制设计 -&gt; 预演 -&gt; SIL -&gt; HIL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S2-EMG应急响应 = 预警 -&gt; 预案 -&gt; 预演 -&gt; 执行/人工确认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S2-EDU教学实验 = 场景配置 -&gt; SIL(教学模式) -&gt; 自动评估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编排逻辑是硬编码的领域知识，不由大模型即兴决定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七、技能编排层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Skill承载角色：四维度 x 多层级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运维维度（三级）：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L0 现地（执行指令/数据采集） | L1 管理段（段内协调） | L2 调度中心（全局决策）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设计维度（三级）：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L0 设计员（参数计算/出图） | L1 专业负责人（设计/校核） | L2 总工（审定/跨专业）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科研维度（三级）：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L0 硕士生（辅助计算/文献） | L1 博士生/副研（独立研究） | L2 PI/博导（方向把控）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教学维度（教师三级 + 学生四级）：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教师：L0助教 / L1主讲 / L2课程负责人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学生：S0科普 / S1大专 / S2本科 / S3研究生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层级决定的不是「能不能用」，而是「用到什么程度」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A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第八部分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计算引擎层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七大通用引擎 + 100+工具函数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七大通用计算引擎</a:t>
            </a:r>
          </a:p>
        </p:txBody>
      </p:sp>
      <p:pic>
        <p:nvPicPr>
          <p:cNvPr id="4" name="Picture 3" descr="chart_seven_eng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所有引擎提供统一接口，Skill层不关心内部用哪个求解器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八、计算引擎层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物理机理引擎 vs 数据学习引擎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4924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49240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00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B9BD5"/>
                </a:solidFill>
                <a:latin typeface="Microsoft YaHei"/>
              </a:defRPr>
            </a:pPr>
            <a:r>
              <a:t>物理机理引擎（5个）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仿真引擎: Saint-Venant / MOC / ODE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辨识引擎: 最小二乘 / UKF / PINN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调度引擎: LP / MILP / DP / SDDP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控制引擎: PID / MPC / DMPC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优化引擎: SQP / GA / DE / PSO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特点：基于物理方程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适用：有明确数学模型的场景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1097280"/>
            <a:ext cx="534924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0759" y="1097280"/>
            <a:ext cx="5349240" cy="54864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371600"/>
            <a:ext cx="4800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E7CC3"/>
                </a:solidFill>
                <a:latin typeface="Microsoft YaHei"/>
              </a:defRPr>
            </a:pPr>
            <a:r>
              <a:t>数据学习引擎（2个）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92024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预测引擎: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概念水文 / LSTM / Transformer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GNN / 降阶替代 / 物理-数据混合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学习引擎: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RL(PPO/SAC/DQN)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模仿学习 / 在线学习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特点：从数据中学习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适用：无解析方程或需要快速预测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八、计算引擎层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统一接口 -- Skill不关心后端实现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6858000" cy="5303520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# 统一接口示例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engine.simulate(network, bc, dt)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-&gt; SimulationResult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engine.predict(features, horizon)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-&gt; PredictionResult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engine.learn(env, reward_fn, episodes)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-&gt; PolicyResult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# 同一个预报Skill，可选不同后端：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S1-FCST(预报):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方式A: SimulationEngine + SV方程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       (精确但慢)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方式B: PredictionEngine + LSTM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       (快但需训练数据)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方式C: PredictionEngine + IDZ降阶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       (快且保留物理约束)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方式D: 混合模型(物理+数据融合)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引擎内部可切换后端：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engine.simulate(city_network)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|-- 自研HydroOS求解器（默认）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|-- EPANET/WNTR后端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|-- HEC-RAS后端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|-- PSS/E后端（水电）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自研体系是核心：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&gt;&gt; 什么水网都能从零建模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&gt;&gt; 不依赖任何外部工具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外部工具是生态：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&gt;&gt; 各单位已有的成熟模型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&gt;&gt; 标准接口接入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&gt;&gt; 科研可同时对比验证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八、计算引擎层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外部工具生态 -- 第一梯队已就绪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第一梯队（pip install即可，已就绪）：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WNTR -- 城市供水管网仿真（EPA + Sandia国家实验室）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PySWMM -- 城市排水/雨洪管理（运行时控制注入）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ras-commander -- 河道防洪/溃坝（HEC-RAS Python自动化）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FloPy -- 地下水（USGS MODFLOW接口）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Pyomo -- 通用优化求解（已集成）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第二梯队（需宿主软件）：HEC-HMS / MIKE SDK / OpenFOAM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第四梯队（ML基础设施）：PyTorch / Stable-Baselines3 / scikit-learn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这些是引擎的内部依赖，不直接暴露为MCP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每个工具封装 = 1个MCP函数 + 1个S0 Skill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上层S1/S2/规则/模板完全不变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八、计算引擎层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工具箱 -- 10大工具包 x 100+工具函数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TK1 数据处理：清洗/重采样/滤波/异常检测/物理校验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TK2 曲线拟合：泵曲线/库容曲线/水位-流量关系/入渗曲线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TK3 统计分析：频率分析/趋势检验/相关分析/极值统计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TK4 诊断评估：传感器/水泵/闸门/管道/模型/控制器诊断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TK5 单位坐标：单位换算/高程基准/坐标系转换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TK6 格式I/O：SCADA/INP/HDF5/NetCDF/Shapefile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TK7 水力计算：Manning/堰流/孔口/管损/水锤/临界水深/壅水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TK8 水质计算：BOD衰减/余氯/混合/WQI/泥沙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TK9 经济能耗：泵站能耗/发电量/生命周期成本/碳排放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TK10 可视化：时序曲线/剖面图/管网拓扑/热力图/仿真动画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工具箱不是第八个引擎，是跨引擎的公共基础设施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Skill可直接调用，也被引擎内部调用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第九部分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对象层与元件库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三族元件 -- 统一基类，混合组装任意水网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三族元件库 -- 统一基类架构</a:t>
            </a:r>
          </a:p>
        </p:txBody>
      </p:sp>
      <p:pic>
        <p:nvPicPr>
          <p:cNvPr id="4" name="Picture 3" descr="chart_componen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所有元件继承同一个基类 Component，都有 compute() 方法、参数集、端口和约束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九、对象层与元件库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第一族：物理元件（被仿真引擎驱动）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537460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B9BD5"/>
                </a:solidFill>
                <a:latin typeface="Microsoft YaHei"/>
              </a:defRPr>
            </a:pPr>
            <a:r>
              <a:t>T1 执行器类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闸门：平板/弧形/人字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水泵：离心/轴流/混流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阀门：蝶阀/球阀/PRV/FCV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水轮机：混流/轴流/冲击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船闸闸门、升船机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8979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68979" y="1097280"/>
            <a:ext cx="2537460" cy="54864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3299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0AD47"/>
                </a:solidFill>
                <a:latin typeface="Microsoft YaHei"/>
              </a:defRPr>
            </a:pPr>
            <a:r>
              <a:t>T2 蓄水体类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299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水库、湖泊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水池/水箱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调蓄池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蓄滞洪区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compute() -&gt; 库容变化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59" y="1097280"/>
            <a:ext cx="2537460" cy="54864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D7D31"/>
                </a:solidFill>
                <a:latin typeface="Microsoft YaHei"/>
              </a:defRPr>
            </a:pPr>
            <a:r>
              <a:t>T3 输水体类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明渠：梯形/矩形/U形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管道：球墨铸铁/PCCP/钢/PE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河道、隧洞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渡槽、倒虹吸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compute() -&gt; Saint-Venant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2540" y="1097280"/>
            <a:ext cx="253746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92540" y="1097280"/>
            <a:ext cx="2537460" cy="54864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6860" y="1371600"/>
            <a:ext cx="19888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E7CC3"/>
                </a:solidFill>
                <a:latin typeface="Microsoft YaHei"/>
              </a:defRPr>
            </a:pPr>
            <a:r>
              <a:t>耦合器类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860" y="1920240"/>
            <a:ext cx="19888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水机电接口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闸-渠接口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泵-管接口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船闸充泄水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梯级耦合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九、对象层与元件库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第二族：水文元件 + 第三族：模型元件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34924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49240" cy="54864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00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0AD47"/>
                </a:solidFill>
                <a:latin typeface="Microsoft YaHei"/>
              </a:defRPr>
            </a:pPr>
            <a:r>
              <a:t>水文元件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H1 产流类: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流域/子流域/透水面/土壤层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H2 汇流类: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单位线/马斯京根/运动波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H3 气象驱动: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降雨场/蒸发场/温度场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水文 = 外部扰动(Disturbance)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控制不了，只能预测和应对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1097280"/>
            <a:ext cx="5349240" cy="530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0759" y="1097280"/>
            <a:ext cx="5349240" cy="54864"/>
          </a:xfrm>
          <a:prstGeom prst="round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371600"/>
            <a:ext cx="4800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E7CC3"/>
                </a:solidFill>
                <a:latin typeface="Microsoft YaHei"/>
              </a:defRPr>
            </a:pPr>
            <a:r>
              <a:t>模型元件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192024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M1 替代模型: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IDZ/POD/DMD/PINN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M2 时序预测: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LSTM/Transformer/GNN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M3 策略模型: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RL(PPO/SAC)/模仿学习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M4 概念水文: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  新安江/HBV/GR4J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同一元件可选多种计算方法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九、对象层与元件库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统一基类 -- compute()接口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6858000" cy="5303520"/>
          </a:xfrm>
          <a:prstGeom prst="roundRect">
            <a:avLst/>
          </a:prstGeom>
          <a:solidFill>
            <a:srgbClr val="14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class Component(ABC):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@abstractmethod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def compute(self, state, inputs, dt):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  """物理解方程/水文算产汇流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     模型做推断"""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def get_params(self) -&gt; ParamSet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def get_ports(self) -&gt; List[Port]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def get_constraints(self) -&gt; ...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# 物理元件：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class OpenChannel(Component):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def compute(self, state, inputs, dt):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  return saint_venant_step(...)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# 模型元件：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class LSTMPredictor(Component):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def compute(self, state, inputs, dt):</a:t>
            </a:r>
          </a:p>
          <a:p>
            <a:pPr>
              <a:spcAft>
                <a:spcPts val="200"/>
              </a:spcAft>
              <a:defRPr sz="1100">
                <a:solidFill>
                  <a:srgbClr val="B4DCB4"/>
                </a:solidFill>
                <a:latin typeface="Consolas"/>
              </a:defRPr>
            </a:pPr>
            <a:r>
              <a:t>    return self.model.forward(...)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统一基类的威力：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物理元件和AI模型元件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 在同一个水网里混合使用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仿真引擎驱动物理元件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 解Saint-Venant方程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预测引擎驱动模型元件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 做LSTM/GNN推断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学习引擎驱动策略元件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 做RL策略推断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&gt;&gt; 像搭积木一样组装水网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   新场景 = 新元件 + 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第十部分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743200"/>
            <a:ext cx="1828800" cy="365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应用案例与展望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从单点工具到全流程革命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十、应用案例与展望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运行示例：断面优化全流程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Step 1 -- 认知层：用户输入「优化河道断面」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大模型解析意图 -&gt; 匹配规则 -&gt; 选择「断面优化」Skill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自动加载设计规则（规范遵从、安全系数、变更追溯）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Step 2 -- 技能层：Skill编排多个引擎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调用优化引擎（多目标搜索）+ 仿真引擎（水力验证）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调用工具箱（Manning公式、壅水计算）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Step 3 -- 引擎层：执行算法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优化引擎搜索最优断面参数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仿真引擎验证水力性能（流速、水深、Fr数）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Step 4 -- 对象层：读取/更新元件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&gt;&gt; 读取河道元件参数 -&gt; 更新设计参数 -&gt; 验证约束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Step 5 -- 输出：优化参数 + 3D可视化 + 性能报告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设计院三阶段渗透策略</a:t>
            </a:r>
          </a:p>
        </p:txBody>
      </p:sp>
      <p:pic>
        <p:nvPicPr>
          <p:cNvPr id="4" name="Picture 3" descr="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从单点工具替代Excel -&gt; MBD验证降低返工 -&gt; 全流程自动化效率提升10倍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058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HydroClaw 核心效果指标</a:t>
            </a:r>
          </a:p>
        </p:txBody>
      </p:sp>
      <p:pic>
        <p:nvPicPr>
          <p:cNvPr id="4" name="Picture 3" descr="chart_kp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828800" cy="36576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B9BD5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57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从「全民养虾」到水网自主运行 -- 统一认知智能框架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B9BD5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垂直大模型 + 规则引擎兜底 -- 确定性用规则，不确定性用AI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B9BD5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520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个人水网智能体 -- 选Skill即获角色，行为即身份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B9BD5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2519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四层架构 -- 认知-技能-引擎-对象，单向调用，职责清晰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B9BD5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983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七大通用引擎 + 100+工具 -- 与领域无关的纯算法层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B9BD5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7150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三族元件统一基类 -- 物理+水文+模型，混合组装任意水网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C000"/>
                </a:solidFill>
                <a:latin typeface="Microsoft YaHei"/>
              </a:defRPr>
            </a:pPr>
            <a:r>
              <a:t>HydroClaw：让水网像大脑一样思考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