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497D"/>
            </a:gs>
            <a:gs pos="100000">
              <a:srgbClr val="44546A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HydroClaw认知智能体系完整方案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B9BD5"/>
                </a:solidFill>
              </a:defRPr>
            </a:pPr>
            <a:r>
              <a:t>Cognitive AI Architecture for Autonomous Water Network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从全民养虾到水网自主运行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雷晓辉 | 中国水利水电科学研究院 | 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设计哲学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858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F3F3F"/>
                </a:solidFill>
              </a:defRPr>
            </a:pPr>
            <a:r>
              <a:t>确定性的事用规则，不确定性的事用大模型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6858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F3F3F"/>
                </a:solidFill>
              </a:defRPr>
            </a:pPr>
            <a:r>
              <a:t>用户选了什么Skill就具备什么角色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6858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F3F3F"/>
                </a:solidFill>
              </a:defRPr>
            </a:pPr>
            <a:r>
              <a:t>引擎通用不分领域，差异全在元件和参数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6858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>
                <a:solidFill>
                  <a:srgbClr val="3F3F3F"/>
                </a:solidFill>
              </a:defRPr>
            </a:pPr>
            <a:r>
              <a:t>物理元件、水文元件、模型元件统一基类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总体架构：四层设计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6400800" cy="100584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认知决策层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大模型 + 规则引擎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377439"/>
            <a:ext cx="6400800" cy="100584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技能编排层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Skill体系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6400800" cy="100584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计算引擎层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七大通用引擎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937759"/>
            <a:ext cx="6400800" cy="1005840"/>
          </a:xfrm>
          <a:prstGeom prst="roundRect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对象层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三族元件库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第①层：认知决策层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114800" cy="228600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大模型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处理不确定性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自然语言理解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意图识别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上下文推理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3657600" cy="228600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规则引擎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确定性逻辑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五层继承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24个回复模板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8229600" cy="25603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44546A"/>
                </a:solidFill>
              </a:defRPr>
            </a:pPr>
            <a:r>
              <a:t>五步决策流程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F3F3F"/>
                </a:solidFill>
              </a:defRPr>
            </a:pPr>
            <a:r>
              <a:t>1. 意图识别 → 2. 规则匹配 → 3. Skill选择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F3F3F"/>
                </a:solidFill>
              </a:defRPr>
            </a:pPr>
            <a:r>
              <a:t>4. 引擎调用 → 5. 结果封装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第②层：技能编排层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7680960" cy="146304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原子Skill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单引擎调用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示例：预测、优化、仿真、学习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7680960" cy="146304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组合Skill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多引擎编排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示例：断面优化、泵站选型、ODD预警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7680960" cy="146304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流程Skill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全流程自动化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示例：MBD验证、设计全流程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第③层：七大通用引擎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560320" cy="137160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预测引擎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水文预报、负荷预测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59" y="1097280"/>
            <a:ext cx="2560320" cy="137160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优化引擎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调度优化、断面优化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799" y="1097280"/>
            <a:ext cx="2560320" cy="137160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仿真引擎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水力仿真、电力仿真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2560320" cy="1371600"/>
          </a:xfrm>
          <a:prstGeom prst="roundRect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学习引擎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模式识别、参数校准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59" y="2651760"/>
            <a:ext cx="2560320" cy="137160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验证引擎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MBD验证、合规检查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2651760"/>
            <a:ext cx="2560320" cy="137160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可视引擎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3D渲染、数据可视化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2560320" cy="137160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协同引擎</a:t>
            </a:r>
          </a:p>
          <a:p>
            <a:pPr algn="ctr"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多智能体协作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F3F3F"/>
                </a:solidFill>
              </a:defRPr>
            </a:pPr>
            <a:r>
              <a:t>✓ 每个引擎内部可切换后端（开源/商业）  ✓ 通过MCP协议集成外部工具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第④层：三族元件库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7680960" cy="146304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物理元件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水库、河道、闸门、泵站、管道、阀门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7680960" cy="146304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水文元件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降雨、蒸发、产流、汇流、地下水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7680960" cy="146304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模型元件</a:t>
            </a:r>
          </a:p>
          <a:p>
            <a:pPr>
              <a:spcBef>
                <a:spcPts val="1000"/>
              </a:spcBef>
              <a:defRPr sz="1600">
                <a:solidFill>
                  <a:srgbClr val="FFFFFF"/>
                </a:solidFill>
              </a:defRPr>
            </a:pPr>
            <a:r>
              <a:t>水动力、水质、生态、经济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F3F3F"/>
                </a:solidFill>
              </a:defRPr>
            </a:pPr>
            <a:r>
              <a:t>统一基类 BaseComponent，四种参数属性：固有、设计、运行、学习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运行示例：断面优化Skill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7680960" cy="73152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3F3F3F"/>
                </a:solidFill>
              </a:defRPr>
            </a:pPr>
            <a:r>
              <a:t>用户："帮我优化这条河道的断面"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7680960" cy="73152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①认知层：意图识别 → 匹配规则 → 选择'断面优化'Skill</a:t>
            </a:r>
          </a:p>
        </p:txBody>
      </p:sp>
      <p:sp>
        <p:nvSpPr>
          <p:cNvPr id="5" name="Down Arrow 4"/>
          <p:cNvSpPr/>
          <p:nvPr/>
        </p:nvSpPr>
        <p:spPr>
          <a:xfrm>
            <a:off x="4114800" y="2743200"/>
            <a:ext cx="914400" cy="27432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7680960" cy="73152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②技能层：编排：预测引擎 + 优化引擎 + 仿真引擎</a:t>
            </a:r>
          </a:p>
        </p:txBody>
      </p:sp>
      <p:sp>
        <p:nvSpPr>
          <p:cNvPr id="7" name="Down Arrow 6"/>
          <p:cNvSpPr/>
          <p:nvPr/>
        </p:nvSpPr>
        <p:spPr>
          <a:xfrm>
            <a:off x="4114800" y="3749039"/>
            <a:ext cx="914400" cy="27432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7680960" cy="73152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③引擎层：调用优化算法（NSGA-II）+ 水力仿真验证</a:t>
            </a:r>
          </a:p>
        </p:txBody>
      </p:sp>
      <p:sp>
        <p:nvSpPr>
          <p:cNvPr id="9" name="Down Arrow 8"/>
          <p:cNvSpPr/>
          <p:nvPr/>
        </p:nvSpPr>
        <p:spPr>
          <a:xfrm>
            <a:off x="4114800" y="4754879"/>
            <a:ext cx="914400" cy="274320"/>
          </a:xfrm>
          <a:prstGeom prst="downArrow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7680960" cy="731520"/>
          </a:xfrm>
          <a:prstGeom prst="roundRect">
            <a:avLst/>
          </a:prstGeom>
          <a:solidFill>
            <a:srgbClr val="FFC000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④对象层：读取河道元件参数 → 计算 → 更新设计参数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217920"/>
            <a:ext cx="7680960" cy="457200"/>
          </a:xfrm>
          <a:prstGeom prst="roundRect">
            <a:avLst/>
          </a:prstGeom>
          <a:solidFill>
            <a:srgbClr val="E6FFE6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3F3F3F"/>
                </a:solidFill>
              </a:defRPr>
            </a:pPr>
            <a:r>
              <a:t>输出：优化后的断面参数 + 3D可视化 + 性能对比报告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设计院切入策略：三阶段渗透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188720"/>
            <a:ext cx="6949440" cy="1371600"/>
          </a:xfrm>
          <a:prstGeom prst="roundRect">
            <a:avLst/>
          </a:prstGeom>
          <a:solidFill>
            <a:srgbClr val="5B9BD5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阶段1：单点工具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泵站选型、管网计算、断面优化</a:t>
            </a:r>
          </a:p>
          <a:p>
            <a:pPr>
              <a:spcBef>
                <a:spcPts val="600"/>
              </a:spcBef>
              <a:defRPr sz="1400" i="1">
                <a:solidFill>
                  <a:srgbClr val="FFFFFF"/>
                </a:solidFill>
              </a:defRPr>
            </a:pPr>
            <a:r>
              <a:t>价值：替代Excel和经验公式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017520"/>
            <a:ext cx="6949440" cy="137160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阶段2：MBD验证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全系统数字孪生验证</a:t>
            </a:r>
          </a:p>
          <a:p>
            <a:pPr>
              <a:spcBef>
                <a:spcPts val="600"/>
              </a:spcBef>
              <a:defRPr sz="1400" i="1">
                <a:solidFill>
                  <a:srgbClr val="FFFFFF"/>
                </a:solidFill>
              </a:defRPr>
            </a:pPr>
            <a:r>
              <a:t>价值：发现设计缺陷，降低返工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4846320"/>
            <a:ext cx="548640" cy="5486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4846320"/>
            <a:ext cx="6949440" cy="137160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阶段3：全流程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从方案到施工图自动生成</a:t>
            </a:r>
          </a:p>
          <a:p>
            <a:pPr>
              <a:spcBef>
                <a:spcPts val="600"/>
              </a:spcBef>
              <a:defRPr sz="1400" i="1">
                <a:solidFill>
                  <a:srgbClr val="FFFFFF"/>
                </a:solidFill>
              </a:defRPr>
            </a:pPr>
            <a:r>
              <a:t>价值：设计效率提升10倍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44546A"/>
            </a:gs>
            <a:gs pos="100000">
              <a:srgbClr val="1F497D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✓ 从全民养虾到水网自主运行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✓ 确定性用规则，不确定性用大模型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✓ 通用引擎 + 领域元件 = 无限可能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6400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✓ 设计、运行、教学全场景覆盖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1">
                <a:solidFill>
                  <a:srgbClr val="5B9BD5"/>
                </a:solidFill>
              </a:defRPr>
            </a:pPr>
            <a:r>
              <a:t>HydroClaw：让水网像大脑一样思考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