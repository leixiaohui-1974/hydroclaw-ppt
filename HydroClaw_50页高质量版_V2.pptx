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HydroClaw认知智能体系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000"/>
                </a:solidFill>
                <a:latin typeface="微软雅黑"/>
              </a:defRPr>
            </a:pPr>
            <a:r>
              <a:t>从全民养虾到水网自主运行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一、核心价值与挑战 (3-5)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二、设计哲学 (6-10)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三、总体架构 (11-15)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四、垂直大模型 (16-20)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五、个人水网智能体 (21-25)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六、认知决策层 (26-30)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七、技能编排层 (31-35)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八、计算引擎层 (36-40)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九、对象层与元件库 (41-45)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十、应用案例与展望 (46-50)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第一部分</a:t>
            </a:r>
          </a:p>
          <a:p>
            <a:r>
              <a:t>核心价值与挑战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当前挑战：全民养虾困境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600">
                <a:latin typeface="微软雅黑"/>
              </a:defRPr>
            </a:pPr>
            <a:r>
              <a:t>• 全民养虾：手动调参，经验难传承</a:t>
            </a:r>
          </a:p>
          <a:p>
            <a:pPr>
              <a:spcAft>
                <a:spcPts val="1500"/>
              </a:spcAft>
              <a:defRPr sz="1600">
                <a:latin typeface="微软雅黑"/>
              </a:defRPr>
            </a:pPr>
            <a:r>
              <a:t>• 决策黑箱：AI无法解释，不敢信任</a:t>
            </a:r>
          </a:p>
          <a:p>
            <a:pPr>
              <a:spcAft>
                <a:spcPts val="1500"/>
              </a:spcAft>
              <a:defRPr sz="1600">
                <a:latin typeface="微软雅黑"/>
              </a:defRPr>
            </a:pPr>
            <a:r>
              <a:t>• 系统割裂：数据孤岛，协同困难</a:t>
            </a:r>
          </a:p>
        </p:txBody>
      </p:sp>
      <p:pic>
        <p:nvPicPr>
          <p:cNvPr id="5" name="Picture 4" descr="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114800" cy="21844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HydroClaw解决方案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latin typeface="微软雅黑"/>
              </a:defRPr>
            </a:pPr>
            <a:r>
              <a:t>• 垂直大模型：水利领域专家知识</a:t>
            </a:r>
          </a:p>
          <a:p>
            <a:pPr>
              <a:spcAft>
                <a:spcPts val="800"/>
              </a:spcAft>
              <a:defRPr sz="1600">
                <a:latin typeface="微软雅黑"/>
              </a:defRPr>
            </a:pPr>
            <a:r>
              <a:t>• 个人智能体：每个人的AI助手</a:t>
            </a:r>
          </a:p>
          <a:p>
            <a:pPr>
              <a:spcAft>
                <a:spcPts val="800"/>
              </a:spcAft>
              <a:defRPr sz="1600">
                <a:latin typeface="微软雅黑"/>
              </a:defRPr>
            </a:pPr>
            <a:r>
              <a:t>• 数字孪生：虚实映射，持续优化</a:t>
            </a:r>
          </a:p>
        </p:txBody>
      </p:sp>
      <p:pic>
        <p:nvPicPr>
          <p:cNvPr id="5" name="Picture 4" descr="kpi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58373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第二部分</a:t>
            </a:r>
          </a:p>
          <a:p>
            <a:r>
              <a:t>设计哲学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四大核心原则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4048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微软雅黑"/>
              </a:defRPr>
            </a:pPr>
            <a:r>
              <a:t>大模型与规则协同</a:t>
            </a:r>
          </a:p>
          <a:p>
            <a:r>
              <a:t>理解+约束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097280"/>
            <a:ext cx="384048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微软雅黑"/>
              </a:defRPr>
            </a:pPr>
            <a:r>
              <a:t>Skill即角色</a:t>
            </a:r>
          </a:p>
          <a:p>
            <a:r>
              <a:t>继承+复用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微软雅黑"/>
              </a:defRPr>
            </a:pPr>
            <a:r>
              <a:t>元件化设计</a:t>
            </a:r>
          </a:p>
          <a:p>
            <a:r>
              <a:t>标准+组装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926080"/>
            <a:ext cx="384048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20040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微软雅黑"/>
              </a:defRPr>
            </a:pPr>
            <a:r>
              <a:t>认知闭环</a:t>
            </a:r>
          </a:p>
          <a:p>
            <a:r>
              <a:t>学习+优化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原则1：大模型与规则协同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大模型：理解、推理、生成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规则引擎：约束、验证、兜底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协同机制：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  - 大模型生成方案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  - 规则引擎校核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  - 反馈修正，迭代优化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原则2：Skill即角色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原子技能：单一功能，可复用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复合技能：多技能组合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流程技能：完整业务流程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继承机制：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  - 子技能继承父技能</a:t>
            </a:r>
          </a:p>
          <a:p>
            <a:pPr>
              <a:spcAft>
                <a:spcPts val="1000"/>
              </a:spcAft>
              <a:defRPr sz="1800">
                <a:latin typeface="微软雅黑"/>
              </a:defRPr>
            </a:pPr>
            <a:r>
              <a:t>  - 避免重复开发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原则3&amp;4：元件化与认知闭环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latin typeface="微软雅黑"/>
              </a:defRPr>
            </a:pPr>
            <a:r>
              <a:t>元件化：物理+水力+网络三族元件</a:t>
            </a:r>
          </a:p>
          <a:p>
            <a:pPr>
              <a:spcAft>
                <a:spcPts val="1500"/>
              </a:spcAft>
              <a:defRPr sz="2000">
                <a:latin typeface="微软雅黑"/>
              </a:defRPr>
            </a:pPr>
            <a:r>
              <a:t>认知闭环：感知→理解→决策→执行→反馈→学习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A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第三部分</a:t>
            </a:r>
          </a:p>
          <a:p>
            <a:r>
              <a:t>总体架构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四层智能决策体系</a:t>
            </a:r>
          </a:p>
        </p:txBody>
      </p:sp>
      <p:pic>
        <p:nvPicPr>
          <p:cNvPr id="4" name="Picture 3" descr="architecture_4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9916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四层架构详解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latin typeface="微软雅黑"/>
              </a:defRPr>
            </a:pPr>
            <a:r>
              <a:t>认知决策层：理解意图，生成方案</a:t>
            </a:r>
          </a:p>
          <a:p>
            <a:pPr>
              <a:spcAft>
                <a:spcPts val="1500"/>
              </a:spcAft>
              <a:defRPr sz="2000">
                <a:latin typeface="微软雅黑"/>
              </a:defRPr>
            </a:pPr>
            <a:r>
              <a:t>技能编排层：编排调用，流程控制</a:t>
            </a:r>
          </a:p>
          <a:p>
            <a:pPr>
              <a:spcAft>
                <a:spcPts val="1500"/>
              </a:spcAft>
              <a:defRPr sz="2000">
                <a:latin typeface="微软雅黑"/>
              </a:defRPr>
            </a:pPr>
            <a:r>
              <a:t>计算引擎层：预测、优化、仿真等</a:t>
            </a:r>
          </a:p>
          <a:p>
            <a:pPr>
              <a:spcAft>
                <a:spcPts val="1500"/>
              </a:spcAft>
              <a:defRPr sz="2000">
                <a:latin typeface="微软雅黑"/>
              </a:defRPr>
            </a:pPr>
            <a:r>
              <a:t>对象层：元件库，数据模型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数据流转示例</a:t>
            </a:r>
          </a:p>
        </p:txBody>
      </p:sp>
      <p:pic>
        <p:nvPicPr>
          <p:cNvPr id="4" name="Picture 3" descr="decis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1754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架构优势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>
                <a:latin typeface="微软雅黑"/>
              </a:defRPr>
            </a:pPr>
            <a:r>
              <a:t>可扩展性：新增引擎/技能不影响其他层</a:t>
            </a:r>
          </a:p>
          <a:p>
            <a:pPr>
              <a:spcAft>
                <a:spcPts val="1500"/>
              </a:spcAft>
              <a:defRPr sz="2000">
                <a:latin typeface="微软雅黑"/>
              </a:defRPr>
            </a:pPr>
            <a:r>
              <a:t>可维护性：各层职责清晰，代码内聚</a:t>
            </a:r>
          </a:p>
          <a:p>
            <a:pPr>
              <a:spcAft>
                <a:spcPts val="1500"/>
              </a:spcAft>
              <a:defRPr sz="2000">
                <a:latin typeface="微软雅黑"/>
              </a:defRPr>
            </a:pPr>
            <a:r>
              <a:t>可复用性：引擎和技能可被多场景复用</a:t>
            </a:r>
          </a:p>
          <a:p>
            <a:pPr>
              <a:spcAft>
                <a:spcPts val="1500"/>
              </a:spcAft>
              <a:defRPr sz="2000">
                <a:latin typeface="微软雅黑"/>
              </a:defRPr>
            </a:pPr>
            <a:r>
              <a:t>可测试性：各层可独立测试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