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HydroClaw认知智能体系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C000"/>
                </a:solidFill>
              </a:defRPr>
            </a:pPr>
            <a:r>
              <a:t>从全民养虾到水网自主运行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472C4"/>
                </a:solidFill>
              </a:defRPr>
            </a:pPr>
            <a:r>
              <a:t>垂直大模型 + 个人水网智能体 + 数字孪生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5B9BD5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F4E78"/>
                </a:solidFill>
              </a:defRPr>
            </a:pPr>
            <a:r>
              <a:t>一、核心价值与挑战  ......  3-5</a:t>
            </a:r>
          </a:p>
          <a:p>
            <a:pPr>
              <a:spcAft>
                <a:spcPts val="1200"/>
              </a:spcAft>
              <a:defRPr sz="1600">
                <a:solidFill>
                  <a:srgbClr val="1F4E78"/>
                </a:solidFill>
              </a:defRPr>
            </a:pPr>
            <a:r>
              <a:t>二、设计哲学  ......  6-10</a:t>
            </a:r>
          </a:p>
          <a:p>
            <a:pPr>
              <a:spcAft>
                <a:spcPts val="1200"/>
              </a:spcAft>
              <a:defRPr sz="1600">
                <a:solidFill>
                  <a:srgbClr val="1F4E78"/>
                </a:solidFill>
              </a:defRPr>
            </a:pPr>
            <a:r>
              <a:t>三、总体架构  ......  11-15</a:t>
            </a:r>
          </a:p>
          <a:p>
            <a:pPr>
              <a:spcAft>
                <a:spcPts val="1200"/>
              </a:spcAft>
              <a:defRPr sz="1600">
                <a:solidFill>
                  <a:srgbClr val="1F4E78"/>
                </a:solidFill>
              </a:defRPr>
            </a:pPr>
            <a:r>
              <a:t>四、垂直大模型  ......  16-20</a:t>
            </a:r>
          </a:p>
          <a:p>
            <a:pPr>
              <a:spcAft>
                <a:spcPts val="1200"/>
              </a:spcAft>
              <a:defRPr sz="1600">
                <a:solidFill>
                  <a:srgbClr val="1F4E78"/>
                </a:solidFill>
              </a:defRPr>
            </a:pPr>
            <a:r>
              <a:t>五、个人水网智能体  ......  21-25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09728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F4E78"/>
                </a:solidFill>
              </a:defRPr>
            </a:pPr>
            <a:r>
              <a:t>六、认知决策层  ......  26-30</a:t>
            </a:r>
          </a:p>
          <a:p>
            <a:pPr>
              <a:spcAft>
                <a:spcPts val="1200"/>
              </a:spcAft>
              <a:defRPr sz="1600">
                <a:solidFill>
                  <a:srgbClr val="1F4E78"/>
                </a:solidFill>
              </a:defRPr>
            </a:pPr>
            <a:r>
              <a:t>七、技能编排层  ......  31-35</a:t>
            </a:r>
          </a:p>
          <a:p>
            <a:pPr>
              <a:spcAft>
                <a:spcPts val="1200"/>
              </a:spcAft>
              <a:defRPr sz="1600">
                <a:solidFill>
                  <a:srgbClr val="1F4E78"/>
                </a:solidFill>
              </a:defRPr>
            </a:pPr>
            <a:r>
              <a:t>八、计算引擎层  ......  36-40</a:t>
            </a:r>
          </a:p>
          <a:p>
            <a:pPr>
              <a:spcAft>
                <a:spcPts val="1200"/>
              </a:spcAft>
              <a:defRPr sz="1600">
                <a:solidFill>
                  <a:srgbClr val="1F4E78"/>
                </a:solidFill>
              </a:defRPr>
            </a:pPr>
            <a:r>
              <a:t>九、对象层与元件库  ......  41-45</a:t>
            </a:r>
          </a:p>
          <a:p>
            <a:pPr>
              <a:spcAft>
                <a:spcPts val="1200"/>
              </a:spcAft>
              <a:defRPr sz="1600">
                <a:solidFill>
                  <a:srgbClr val="1F4E78"/>
                </a:solidFill>
              </a:defRPr>
            </a:pPr>
            <a:r>
              <a:t>十、应用案例与展望  ......  46-50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第一部分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核心价值与挑战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C000"/>
                </a:solidFill>
              </a:defRPr>
            </a:pPr>
            <a:r>
              <a:t>从全民养虾到智能决策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当前挑战：全民养虾困境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当前水网运行的三大困境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1. 全民养虾现象</a:t>
            </a:r>
          </a:p>
          <a:p>
            <a:pPr>
              <a:spcAft>
                <a:spcPts val="800"/>
              </a:spcAft>
              <a:defRPr sz="1800" b="0"/>
            </a:pPr>
            <a:r>
              <a:t>• 每个工程师都在手动调参、试错</a:t>
            </a:r>
          </a:p>
          <a:p>
            <a:pPr>
              <a:spcAft>
                <a:spcPts val="800"/>
              </a:spcAft>
              <a:defRPr sz="1800" b="0"/>
            </a:pPr>
            <a:r>
              <a:t>• 经验无法传承，知识无法复用</a:t>
            </a:r>
          </a:p>
          <a:p>
            <a:pPr>
              <a:spcAft>
                <a:spcPts val="800"/>
              </a:spcAft>
              <a:defRPr sz="1800" b="0"/>
            </a:pPr>
            <a:r>
              <a:t>• 新人培养周期长达3-5年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2. 决策黑箱问题</a:t>
            </a:r>
          </a:p>
          <a:p>
            <a:pPr>
              <a:spcAft>
                <a:spcPts val="800"/>
              </a:spcAft>
              <a:defRPr sz="1800" b="0"/>
            </a:pPr>
            <a:r>
              <a:t>• AI给出方案，但无法解释原因</a:t>
            </a:r>
          </a:p>
          <a:p>
            <a:pPr>
              <a:spcAft>
                <a:spcPts val="800"/>
              </a:spcAft>
              <a:defRPr sz="1800" b="0"/>
            </a:pPr>
            <a:r>
              <a:t>• 工程师不敢信任，不敢采用</a:t>
            </a:r>
          </a:p>
          <a:p>
            <a:pPr>
              <a:spcAft>
                <a:spcPts val="800"/>
              </a:spcAft>
              <a:defRPr sz="1800" b="0"/>
            </a:pPr>
            <a:r>
              <a:t>• 责任归属不清晰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3. 系统割裂困境</a:t>
            </a:r>
          </a:p>
          <a:p>
            <a:pPr>
              <a:spcAft>
                <a:spcPts val="800"/>
              </a:spcAft>
              <a:defRPr sz="1800" b="0"/>
            </a:pPr>
            <a:r>
              <a:t>• 预测、优化、仿真各自为政</a:t>
            </a:r>
          </a:p>
          <a:p>
            <a:pPr>
              <a:spcAft>
                <a:spcPts val="800"/>
              </a:spcAft>
              <a:defRPr sz="1800" b="0"/>
            </a:pPr>
            <a:r>
              <a:t>• 数据孤岛严重，协同困难</a:t>
            </a:r>
          </a:p>
          <a:p>
            <a:pPr>
              <a:spcAft>
                <a:spcPts val="800"/>
              </a:spcAft>
              <a:defRPr sz="1800" b="0"/>
            </a:pPr>
            <a:r>
              <a:t>• 重复开发，效率低下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HydroClaw解决方案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三位一体的智能决策体系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1. 垂直大模型：水利领域专家知识</a:t>
            </a:r>
          </a:p>
          <a:p>
            <a:pPr>
              <a:spcAft>
                <a:spcPts val="800"/>
              </a:spcAft>
              <a:defRPr sz="1800" b="0"/>
            </a:pPr>
            <a:r>
              <a:t>• 整合规范、案例、物理约束</a:t>
            </a:r>
          </a:p>
          <a:p>
            <a:pPr>
              <a:spcAft>
                <a:spcPts val="800"/>
              </a:spcAft>
              <a:defRPr sz="1800" b="0"/>
            </a:pPr>
            <a:r>
              <a:t>• 规则引擎兜底，确保安全</a:t>
            </a:r>
          </a:p>
          <a:p>
            <a:pPr>
              <a:spcAft>
                <a:spcPts val="800"/>
              </a:spcAft>
              <a:defRPr sz="1800" b="0"/>
            </a:pPr>
            <a:r>
              <a:t>• 可解释性强，工程师可信任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2. 个人水网智能体：每个人的AI助手</a:t>
            </a:r>
          </a:p>
          <a:p>
            <a:pPr>
              <a:spcAft>
                <a:spcPts val="800"/>
              </a:spcAft>
              <a:defRPr sz="1800" b="0"/>
            </a:pPr>
            <a:r>
              <a:t>• 设计工程师：自动生成方案</a:t>
            </a:r>
          </a:p>
          <a:p>
            <a:pPr>
              <a:spcAft>
                <a:spcPts val="800"/>
              </a:spcAft>
              <a:defRPr sz="1800" b="0"/>
            </a:pPr>
            <a:r>
              <a:t>• 运维人员：智能诊断故障</a:t>
            </a:r>
          </a:p>
          <a:p>
            <a:pPr>
              <a:spcAft>
                <a:spcPts val="800"/>
              </a:spcAft>
              <a:defRPr sz="1800" b="0"/>
            </a:pPr>
            <a:r>
              <a:t>• 科研人员：快速验证假设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3. 数字孪生：虚实映射</a:t>
            </a:r>
          </a:p>
          <a:p>
            <a:pPr>
              <a:spcAft>
                <a:spcPts val="800"/>
              </a:spcAft>
              <a:defRPr sz="1800" b="0"/>
            </a:pPr>
            <a:r>
              <a:t>• 实时仿真，预测未来</a:t>
            </a:r>
          </a:p>
          <a:p>
            <a:pPr>
              <a:spcAft>
                <a:spcPts val="800"/>
              </a:spcAft>
              <a:defRPr sz="1800" b="0"/>
            </a:pPr>
            <a:r>
              <a:t>• 闭环优化，持续学习</a:t>
            </a:r>
          </a:p>
          <a:p>
            <a:pPr>
              <a:spcAft>
                <a:spcPts val="800"/>
              </a:spcAft>
              <a:defRPr sz="1800" b="0"/>
            </a:pPr>
            <a:r>
              <a:t>• 知识沉淀，经验复用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第二部分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设计哲学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C000"/>
                </a:solidFill>
              </a:defRPr>
            </a:pPr>
            <a:r>
              <a:t>四大核心原则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设计哲学：四大核心原则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HydroClaw的设计理念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1. 大模型与规则协同</a:t>
            </a:r>
          </a:p>
          <a:p>
            <a:pPr>
              <a:spcAft>
                <a:spcPts val="800"/>
              </a:spcAft>
              <a:defRPr sz="1800" b="0"/>
            </a:pPr>
            <a:r>
              <a:t>• 大模型负责理解、推理、生成</a:t>
            </a:r>
          </a:p>
          <a:p>
            <a:pPr>
              <a:spcAft>
                <a:spcPts val="800"/>
              </a:spcAft>
              <a:defRPr sz="1800" b="0"/>
            </a:pPr>
            <a:r>
              <a:t>• 规则引擎负责约束、验证、兜底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2. Skill即角色</a:t>
            </a:r>
          </a:p>
          <a:p>
            <a:pPr>
              <a:spcAft>
                <a:spcPts val="800"/>
              </a:spcAft>
              <a:defRPr sz="1800" b="0"/>
            </a:pPr>
            <a:r>
              <a:t>• 每个技能都是一个专业角色</a:t>
            </a:r>
          </a:p>
          <a:p>
            <a:pPr>
              <a:spcAft>
                <a:spcPts val="800"/>
              </a:spcAft>
              <a:defRPr sz="1800" b="0"/>
            </a:pPr>
            <a:r>
              <a:t>• 继承机制实现知识复用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3. 元件化设计</a:t>
            </a:r>
          </a:p>
          <a:p>
            <a:pPr>
              <a:spcAft>
                <a:spcPts val="800"/>
              </a:spcAft>
              <a:defRPr sz="1800" b="0"/>
            </a:pPr>
            <a:r>
              <a:t>• 物理元件、水力元件、网络元件</a:t>
            </a:r>
          </a:p>
          <a:p>
            <a:pPr>
              <a:spcAft>
                <a:spcPts val="800"/>
              </a:spcAft>
              <a:defRPr sz="1800" b="0"/>
            </a:pPr>
            <a:r>
              <a:t>• 像搭积木一样组装水网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4. 认知闭环</a:t>
            </a:r>
          </a:p>
          <a:p>
            <a:pPr>
              <a:spcAft>
                <a:spcPts val="800"/>
              </a:spcAft>
              <a:defRPr sz="1800" b="0"/>
            </a:pPr>
            <a:r>
              <a:t>• 感知→理解→决策→执行→反馈</a:t>
            </a:r>
          </a:p>
          <a:p>
            <a:pPr>
              <a:spcAft>
                <a:spcPts val="800"/>
              </a:spcAft>
              <a:defRPr sz="1800" b="0"/>
            </a:pPr>
            <a:r>
              <a:t>• 持续学习，不断优化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原则1：大模型与规则协同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为什么需要规则引擎？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大模型的优势：</a:t>
            </a:r>
          </a:p>
          <a:p>
            <a:pPr>
              <a:spcAft>
                <a:spcPts val="800"/>
              </a:spcAft>
              <a:defRPr sz="1800" b="0"/>
            </a:pPr>
            <a:r>
              <a:t>• 理解自然语言，降低使用门槛</a:t>
            </a:r>
          </a:p>
          <a:p>
            <a:pPr>
              <a:spcAft>
                <a:spcPts val="800"/>
              </a:spcAft>
              <a:defRPr sz="1800" b="0"/>
            </a:pPr>
            <a:r>
              <a:t>• 推理能力强，处理复杂场景</a:t>
            </a:r>
          </a:p>
          <a:p>
            <a:pPr>
              <a:spcAft>
                <a:spcPts val="800"/>
              </a:spcAft>
              <a:defRPr sz="1800" b="0"/>
            </a:pPr>
            <a:r>
              <a:t>• 生成能力强，自动编写代码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大模型的局限：</a:t>
            </a:r>
          </a:p>
          <a:p>
            <a:pPr>
              <a:spcAft>
                <a:spcPts val="800"/>
              </a:spcAft>
              <a:defRPr sz="1800" b="0"/>
            </a:pPr>
            <a:r>
              <a:t>• 可能产生幻觉，给出错误答案</a:t>
            </a:r>
          </a:p>
          <a:p>
            <a:pPr>
              <a:spcAft>
                <a:spcPts val="800"/>
              </a:spcAft>
              <a:defRPr sz="1800" b="0"/>
            </a:pPr>
            <a:r>
              <a:t>• 缺乏领域约束，违反物理规律</a:t>
            </a:r>
          </a:p>
          <a:p>
            <a:pPr>
              <a:spcAft>
                <a:spcPts val="800"/>
              </a:spcAft>
              <a:defRPr sz="1800" b="0"/>
            </a:pPr>
            <a:r>
              <a:t>• 无法保证100%正确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规则引擎的作用：</a:t>
            </a:r>
          </a:p>
          <a:p>
            <a:pPr>
              <a:spcAft>
                <a:spcPts val="800"/>
              </a:spcAft>
              <a:defRPr sz="1800" b="0"/>
            </a:pPr>
            <a:r>
              <a:t>• 硬约束：流速、压力、管径等物理限制</a:t>
            </a:r>
          </a:p>
          <a:p>
            <a:pPr>
              <a:spcAft>
                <a:spcPts val="800"/>
              </a:spcAft>
              <a:defRPr sz="1800" b="0"/>
            </a:pPr>
            <a:r>
              <a:t>• 软约束：设计规范、经验法则</a:t>
            </a:r>
          </a:p>
          <a:p>
            <a:pPr>
              <a:spcAft>
                <a:spcPts val="800"/>
              </a:spcAft>
              <a:defRPr sz="1800" b="0"/>
            </a:pPr>
            <a:r>
              <a:t>• 兜底机制：大模型失效时接管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原则2：Skill即角色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技能继承体系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基础技能（Atomic Skill）：</a:t>
            </a:r>
          </a:p>
          <a:p>
            <a:pPr>
              <a:spcAft>
                <a:spcPts val="800"/>
              </a:spcAft>
              <a:defRPr sz="1800" b="0"/>
            </a:pPr>
            <a:r>
              <a:t>• 单一功能，如计算流量、绘制图表</a:t>
            </a:r>
          </a:p>
          <a:p>
            <a:pPr>
              <a:spcAft>
                <a:spcPts val="800"/>
              </a:spcAft>
              <a:defRPr sz="1800" b="0"/>
            </a:pPr>
            <a:r>
              <a:t>• 可复用，可组合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复合技能（Composite Skill）：</a:t>
            </a:r>
          </a:p>
          <a:p>
            <a:pPr>
              <a:spcAft>
                <a:spcPts val="800"/>
              </a:spcAft>
              <a:defRPr sz="1800" b="0"/>
            </a:pPr>
            <a:r>
              <a:t>• 多个基础技能组合</a:t>
            </a:r>
          </a:p>
          <a:p>
            <a:pPr>
              <a:spcAft>
                <a:spcPts val="800"/>
              </a:spcAft>
              <a:defRPr sz="1800" b="0"/>
            </a:pPr>
            <a:r>
              <a:t>• 如水力计算 = 流量计算 + 压力计算 + 校核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流程技能（Process Skill）：</a:t>
            </a:r>
          </a:p>
          <a:p>
            <a:pPr>
              <a:spcAft>
                <a:spcPts val="800"/>
              </a:spcAft>
              <a:defRPr sz="1800" b="0"/>
            </a:pPr>
            <a:r>
              <a:t>• 完整业务流程</a:t>
            </a:r>
          </a:p>
          <a:p>
            <a:pPr>
              <a:spcAft>
                <a:spcPts val="800"/>
              </a:spcAft>
              <a:defRPr sz="1800" b="0"/>
            </a:pPr>
            <a:r>
              <a:t>• 如方案设计 = 需求分析 + 方案生成 + 优化 + 出图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继承机制：</a:t>
            </a:r>
          </a:p>
          <a:p>
            <a:pPr>
              <a:spcAft>
                <a:spcPts val="800"/>
              </a:spcAft>
              <a:defRPr sz="1800" b="0"/>
            </a:pPr>
            <a:r>
              <a:t>• 子技能继承父技能的知识和能力</a:t>
            </a:r>
          </a:p>
          <a:p>
            <a:pPr>
              <a:spcAft>
                <a:spcPts val="800"/>
              </a:spcAft>
              <a:defRPr sz="1800" b="0"/>
            </a:pPr>
            <a:r>
              <a:t>• 避免重复开发，提高复用率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原则3&amp;4：元件化与认知闭环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元件化设计：</a:t>
            </a:r>
          </a:p>
          <a:p>
            <a:pPr>
              <a:spcAft>
                <a:spcPts val="800"/>
              </a:spcAft>
              <a:defRPr sz="1800" b="0"/>
            </a:pPr>
            <a:r>
              <a:t>• 物理元件：管道、水泵、阀门、水池</a:t>
            </a:r>
          </a:p>
          <a:p>
            <a:pPr>
              <a:spcAft>
                <a:spcPts val="800"/>
              </a:spcAft>
              <a:defRPr sz="1800" b="0"/>
            </a:pPr>
            <a:r>
              <a:t>• 水力元件：节点、管段、边界条件</a:t>
            </a:r>
          </a:p>
          <a:p>
            <a:pPr>
              <a:spcAft>
                <a:spcPts val="800"/>
              </a:spcAft>
              <a:defRPr sz="1800" b="0"/>
            </a:pPr>
            <a:r>
              <a:t>• 网络元件：拓扑结构、连接关系</a:t>
            </a:r>
          </a:p>
          <a:p>
            <a:pPr>
              <a:spcAft>
                <a:spcPts val="800"/>
              </a:spcAft>
              <a:defRPr sz="1800" b="0"/>
            </a:pPr>
            <a:r>
              <a:t>• 优势：标准化、可复用、易维护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认知闭环：</a:t>
            </a:r>
          </a:p>
          <a:p>
            <a:pPr>
              <a:spcAft>
                <a:spcPts val="800"/>
              </a:spcAft>
              <a:defRPr sz="1800" b="0"/>
            </a:pPr>
            <a:r>
              <a:t>• 感知：传感器数据、用户输入</a:t>
            </a:r>
          </a:p>
          <a:p>
            <a:pPr>
              <a:spcAft>
                <a:spcPts val="800"/>
              </a:spcAft>
              <a:defRPr sz="1800" b="0"/>
            </a:pPr>
            <a:r>
              <a:t>• 理解：大模型解析意图</a:t>
            </a:r>
          </a:p>
          <a:p>
            <a:pPr>
              <a:spcAft>
                <a:spcPts val="800"/>
              </a:spcAft>
              <a:defRPr sz="1800" b="0"/>
            </a:pPr>
            <a:r>
              <a:t>• 决策：规则引擎约束 + 优化算法</a:t>
            </a:r>
          </a:p>
          <a:p>
            <a:pPr>
              <a:spcAft>
                <a:spcPts val="800"/>
              </a:spcAft>
              <a:defRPr sz="1800" b="0"/>
            </a:pPr>
            <a:r>
              <a:t>• 执行：调用计算引擎</a:t>
            </a:r>
          </a:p>
          <a:p>
            <a:pPr>
              <a:spcAft>
                <a:spcPts val="800"/>
              </a:spcAft>
              <a:defRPr sz="1800" b="0"/>
            </a:pPr>
            <a:r>
              <a:t>• 反馈：结果评估 + 知识更新</a:t>
            </a:r>
          </a:p>
          <a:p>
            <a:pPr>
              <a:spcAft>
                <a:spcPts val="800"/>
              </a:spcAft>
              <a:defRPr sz="1800" b="0"/>
            </a:pPr>
            <a:r>
              <a:t>• 学习：案例库积累 + 模型微调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第三部分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C000"/>
                </a:solidFill>
              </a:defRPr>
            </a:pPr>
            <a:r>
              <a:t>四层智能决策体系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总体架构：四层智能决策体系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从上到下的四层架构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第一层：认知决策层</a:t>
            </a:r>
          </a:p>
          <a:p>
            <a:pPr>
              <a:spcAft>
                <a:spcPts val="800"/>
              </a:spcAft>
              <a:defRPr sz="1800" b="0"/>
            </a:pPr>
            <a:r>
              <a:t>• 垂直大模型 + 规则引擎</a:t>
            </a:r>
          </a:p>
          <a:p>
            <a:pPr>
              <a:spcAft>
                <a:spcPts val="800"/>
              </a:spcAft>
              <a:defRPr sz="1800" b="0"/>
            </a:pPr>
            <a:r>
              <a:t>• 理解用户意图，生成决策方案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第二层：技能编排层</a:t>
            </a:r>
          </a:p>
          <a:p>
            <a:pPr>
              <a:spcAft>
                <a:spcPts val="800"/>
              </a:spcAft>
              <a:defRPr sz="1800" b="0"/>
            </a:pPr>
            <a:r>
              <a:t>• Skill继承体系</a:t>
            </a:r>
          </a:p>
          <a:p>
            <a:pPr>
              <a:spcAft>
                <a:spcPts val="800"/>
              </a:spcAft>
              <a:defRPr sz="1800" b="0"/>
            </a:pPr>
            <a:r>
              <a:t>• 编排调用下层引擎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第三层：计算引擎层</a:t>
            </a:r>
          </a:p>
          <a:p>
            <a:pPr>
              <a:spcAft>
                <a:spcPts val="800"/>
              </a:spcAft>
              <a:defRPr sz="1800" b="0"/>
            </a:pPr>
            <a:r>
              <a:t>• 7大通用引擎：预测、优化、仿真等</a:t>
            </a:r>
          </a:p>
          <a:p>
            <a:pPr>
              <a:spcAft>
                <a:spcPts val="800"/>
              </a:spcAft>
              <a:defRPr sz="1800" b="0"/>
            </a:pPr>
            <a:r>
              <a:t>• 提供基础计算能力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第四层：对象层与元件库</a:t>
            </a:r>
          </a:p>
          <a:p>
            <a:pPr>
              <a:spcAft>
                <a:spcPts val="800"/>
              </a:spcAft>
              <a:defRPr sz="1800" b="0"/>
            </a:pPr>
            <a:r>
              <a:t>• 物理元件、水力元件、网络元件</a:t>
            </a:r>
          </a:p>
          <a:p>
            <a:pPr>
              <a:spcAft>
                <a:spcPts val="800"/>
              </a:spcAft>
              <a:defRPr sz="1800" b="0"/>
            </a:pPr>
            <a:r>
              <a:t>• 数据模型与业务对象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四层架构详解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各层职责与交互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认知决策层 → 技能编排层：</a:t>
            </a:r>
          </a:p>
          <a:p>
            <a:pPr>
              <a:spcAft>
                <a:spcPts val="800"/>
              </a:spcAft>
              <a:defRPr sz="1800" b="0"/>
            </a:pPr>
            <a:r>
              <a:t>• 传递：用户意图、约束条件</a:t>
            </a:r>
          </a:p>
          <a:p>
            <a:pPr>
              <a:spcAft>
                <a:spcPts val="800"/>
              </a:spcAft>
              <a:defRPr sz="1800" b="0"/>
            </a:pPr>
            <a:r>
              <a:t>• 接收：执行结果、异常信息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技能编排层 → 计算引擎层：</a:t>
            </a:r>
          </a:p>
          <a:p>
            <a:pPr>
              <a:spcAft>
                <a:spcPts val="800"/>
              </a:spcAft>
              <a:defRPr sz="1800" b="0"/>
            </a:pPr>
            <a:r>
              <a:t>• 传递：计算任务、参数配置</a:t>
            </a:r>
          </a:p>
          <a:p>
            <a:pPr>
              <a:spcAft>
                <a:spcPts val="800"/>
              </a:spcAft>
              <a:defRPr sz="1800" b="0"/>
            </a:pPr>
            <a:r>
              <a:t>• 接收：计算结果、性能指标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计算引擎层 → 对象层：</a:t>
            </a:r>
          </a:p>
          <a:p>
            <a:pPr>
              <a:spcAft>
                <a:spcPts val="800"/>
              </a:spcAft>
              <a:defRPr sz="1800" b="0"/>
            </a:pPr>
            <a:r>
              <a:t>• 传递：CRUD操作、查询请求</a:t>
            </a:r>
          </a:p>
          <a:p>
            <a:pPr>
              <a:spcAft>
                <a:spcPts val="800"/>
              </a:spcAft>
              <a:defRPr sz="1800" b="0"/>
            </a:pPr>
            <a:r>
              <a:t>• 接收：对象数据、拓扑关系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优势：</a:t>
            </a:r>
          </a:p>
          <a:p>
            <a:pPr>
              <a:spcAft>
                <a:spcPts val="800"/>
              </a:spcAft>
              <a:defRPr sz="1800" b="0"/>
            </a:pPr>
            <a:r>
              <a:t>• 分层解耦，各层独立演进</a:t>
            </a:r>
          </a:p>
          <a:p>
            <a:pPr>
              <a:spcAft>
                <a:spcPts val="800"/>
              </a:spcAft>
              <a:defRPr sz="1800" b="0"/>
            </a:pPr>
            <a:r>
              <a:t>• 职责清晰，易于维护扩展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数据流转示例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用户请求：'优化XX水厂的调度方案'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1. 认知决策层：</a:t>
            </a:r>
          </a:p>
          <a:p>
            <a:pPr>
              <a:spcAft>
                <a:spcPts val="800"/>
              </a:spcAft>
              <a:defRPr sz="1800" b="0"/>
            </a:pPr>
            <a:r>
              <a:t>   • 大模型理解意图：需要优化调度</a:t>
            </a:r>
          </a:p>
          <a:p>
            <a:pPr>
              <a:spcAft>
                <a:spcPts val="800"/>
              </a:spcAft>
              <a:defRPr sz="1800" b="0"/>
            </a:pPr>
            <a:r>
              <a:t>   • 规则引擎约束：满足供水需求、压力范围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2. 技能编排层：</a:t>
            </a:r>
          </a:p>
          <a:p>
            <a:pPr>
              <a:spcAft>
                <a:spcPts val="800"/>
              </a:spcAft>
              <a:defRPr sz="1800" b="0"/>
            </a:pPr>
            <a:r>
              <a:t>   • 调用'调度优化'技能</a:t>
            </a:r>
          </a:p>
          <a:p>
            <a:pPr>
              <a:spcAft>
                <a:spcPts val="800"/>
              </a:spcAft>
              <a:defRPr sz="1800" b="0"/>
            </a:pPr>
            <a:r>
              <a:t>   • 分解为：数据准备 + 优化计算 + 结果评估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3. 计算引擎层：</a:t>
            </a:r>
          </a:p>
          <a:p>
            <a:pPr>
              <a:spcAft>
                <a:spcPts val="800"/>
              </a:spcAft>
              <a:defRPr sz="1800" b="0"/>
            </a:pPr>
            <a:r>
              <a:t>   • 预测引擎：预测未来24h用水量</a:t>
            </a:r>
          </a:p>
          <a:p>
            <a:pPr>
              <a:spcAft>
                <a:spcPts val="800"/>
              </a:spcAft>
              <a:defRPr sz="1800" b="0"/>
            </a:pPr>
            <a:r>
              <a:t>   • 优化引擎：求解最优调度方案</a:t>
            </a:r>
          </a:p>
          <a:p>
            <a:pPr>
              <a:spcAft>
                <a:spcPts val="800"/>
              </a:spcAft>
              <a:defRPr sz="1800" b="0"/>
            </a:pPr>
            <a:r>
              <a:t>   • 仿真引擎：验证方案可行性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4. 对象层：</a:t>
            </a:r>
          </a:p>
          <a:p>
            <a:pPr>
              <a:spcAft>
                <a:spcPts val="800"/>
              </a:spcAft>
              <a:defRPr sz="1800" b="0"/>
            </a:pPr>
            <a:r>
              <a:t>   • 读取水厂、管网、水池等对象数据</a:t>
            </a:r>
          </a:p>
          <a:p>
            <a:pPr>
              <a:spcAft>
                <a:spcPts val="800"/>
              </a:spcAft>
              <a:defRPr sz="1800" b="0"/>
            </a:pPr>
            <a:r>
              <a:t>   • 更新调度方案到数据库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架构优势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为什么选择四层架构？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1. 可扩展性</a:t>
            </a:r>
          </a:p>
          <a:p>
            <a:pPr>
              <a:spcAft>
                <a:spcPts val="800"/>
              </a:spcAft>
              <a:defRPr sz="1800" b="0"/>
            </a:pPr>
            <a:r>
              <a:t>• 新增引擎：只需在计算引擎层添加</a:t>
            </a:r>
          </a:p>
          <a:p>
            <a:pPr>
              <a:spcAft>
                <a:spcPts val="800"/>
              </a:spcAft>
              <a:defRPr sz="1800" b="0"/>
            </a:pPr>
            <a:r>
              <a:t>• 新增技能：只需在技能编排层添加</a:t>
            </a:r>
          </a:p>
          <a:p>
            <a:pPr>
              <a:spcAft>
                <a:spcPts val="800"/>
              </a:spcAft>
              <a:defRPr sz="1800" b="0"/>
            </a:pPr>
            <a:r>
              <a:t>• 不影响其他层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2. 可维护性</a:t>
            </a:r>
          </a:p>
          <a:p>
            <a:pPr>
              <a:spcAft>
                <a:spcPts val="800"/>
              </a:spcAft>
              <a:defRPr sz="1800" b="0"/>
            </a:pPr>
            <a:r>
              <a:t>• 各层职责清晰，代码内聚</a:t>
            </a:r>
          </a:p>
          <a:p>
            <a:pPr>
              <a:spcAft>
                <a:spcPts val="800"/>
              </a:spcAft>
              <a:defRPr sz="1800" b="0"/>
            </a:pPr>
            <a:r>
              <a:t>• 修改某层不影响其他层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3. 可复用性</a:t>
            </a:r>
          </a:p>
          <a:p>
            <a:pPr>
              <a:spcAft>
                <a:spcPts val="800"/>
              </a:spcAft>
              <a:defRPr sz="1800" b="0"/>
            </a:pPr>
            <a:r>
              <a:t>• 引擎可被多个技能调用</a:t>
            </a:r>
          </a:p>
          <a:p>
            <a:pPr>
              <a:spcAft>
                <a:spcPts val="800"/>
              </a:spcAft>
              <a:defRPr sz="1800" b="0"/>
            </a:pPr>
            <a:r>
              <a:t>• 技能可被多个场景复用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4. 可测试性</a:t>
            </a:r>
          </a:p>
          <a:p>
            <a:pPr>
              <a:spcAft>
                <a:spcPts val="800"/>
              </a:spcAft>
              <a:defRPr sz="1800" b="0"/>
            </a:pPr>
            <a:r>
              <a:t>• 各层可独立测试</a:t>
            </a:r>
          </a:p>
          <a:p>
            <a:pPr>
              <a:spcAft>
                <a:spcPts val="800"/>
              </a:spcAft>
              <a:defRPr sz="1800" b="0"/>
            </a:pPr>
            <a:r>
              <a:t>• Mock接口，隔离依赖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E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第四部分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垂直大模型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C000"/>
                </a:solidFill>
              </a:defRPr>
            </a:pPr>
            <a:r>
              <a:t>水利领域专家知识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E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通用大模型 vs 垂直大模型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为什么需要垂直大模型？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通用大模型（GPT-4、Claude等）：</a:t>
            </a:r>
          </a:p>
          <a:p>
            <a:pPr>
              <a:spcAft>
                <a:spcPts val="800"/>
              </a:spcAft>
              <a:defRPr sz="1800" b="0"/>
            </a:pPr>
            <a:r>
              <a:t>• 优势：知识广博，理解能力强</a:t>
            </a:r>
          </a:p>
          <a:p>
            <a:pPr>
              <a:spcAft>
                <a:spcPts val="800"/>
              </a:spcAft>
              <a:defRPr sz="1800" b="0"/>
            </a:pPr>
            <a:r>
              <a:t>• 劣势：缺乏水利专业知识</a:t>
            </a:r>
          </a:p>
          <a:p>
            <a:pPr>
              <a:spcAft>
                <a:spcPts val="800"/>
              </a:spcAft>
              <a:defRPr sz="1800" b="0"/>
            </a:pPr>
            <a:r>
              <a:t>• 问题：可能给出不符合规范的方案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垂直大模型（HydroClaw-LLM）：</a:t>
            </a:r>
          </a:p>
          <a:p>
            <a:pPr>
              <a:spcAft>
                <a:spcPts val="800"/>
              </a:spcAft>
              <a:defRPr sz="1800" b="0"/>
            </a:pPr>
            <a:r>
              <a:t>• 基于通用大模型微调</a:t>
            </a:r>
          </a:p>
          <a:p>
            <a:pPr>
              <a:spcAft>
                <a:spcPts val="800"/>
              </a:spcAft>
              <a:defRPr sz="1800" b="0"/>
            </a:pPr>
            <a:r>
              <a:t>• 注入水利领域知识：规范、案例、经验</a:t>
            </a:r>
          </a:p>
          <a:p>
            <a:pPr>
              <a:spcAft>
                <a:spcPts val="800"/>
              </a:spcAft>
              <a:defRPr sz="1800" b="0"/>
            </a:pPr>
            <a:r>
              <a:t>• 结合规则引擎，确保合规性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优势：</a:t>
            </a:r>
          </a:p>
          <a:p>
            <a:pPr>
              <a:spcAft>
                <a:spcPts val="800"/>
              </a:spcAft>
              <a:defRPr sz="1800" b="0"/>
            </a:pPr>
            <a:r>
              <a:t>• 专业性强，符合行业规范</a:t>
            </a:r>
          </a:p>
          <a:p>
            <a:pPr>
              <a:spcAft>
                <a:spcPts val="800"/>
              </a:spcAft>
              <a:defRPr sz="1800" b="0"/>
            </a:pPr>
            <a:r>
              <a:t>• 可解释性强，工程师可信任</a:t>
            </a:r>
          </a:p>
          <a:p>
            <a:pPr>
              <a:spcAft>
                <a:spcPts val="800"/>
              </a:spcAft>
              <a:defRPr sz="1800" b="0"/>
            </a:pPr>
            <a:r>
              <a:t>• 安全性高，规则引擎兜底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E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知识库：三大知识来源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垂直大模型的知识来源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1. 规范标准（Regulations）</a:t>
            </a:r>
          </a:p>
          <a:p>
            <a:pPr>
              <a:spcAft>
                <a:spcPts val="800"/>
              </a:spcAft>
              <a:defRPr sz="1800" b="0"/>
            </a:pPr>
            <a:r>
              <a:t>• 国家标准：GB 50015、GB 50013等</a:t>
            </a:r>
          </a:p>
          <a:p>
            <a:pPr>
              <a:spcAft>
                <a:spcPts val="800"/>
              </a:spcAft>
              <a:defRPr sz="1800" b="0"/>
            </a:pPr>
            <a:r>
              <a:t>• 行业规范：CJJ 92、CJJ 140等</a:t>
            </a:r>
          </a:p>
          <a:p>
            <a:pPr>
              <a:spcAft>
                <a:spcPts val="800"/>
              </a:spcAft>
              <a:defRPr sz="1800" b="0"/>
            </a:pPr>
            <a:r>
              <a:t>• 地方标准：各省市技术规程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2. 案例库（Cases）</a:t>
            </a:r>
          </a:p>
          <a:p>
            <a:pPr>
              <a:spcAft>
                <a:spcPts val="800"/>
              </a:spcAft>
              <a:defRPr sz="1800" b="0"/>
            </a:pPr>
            <a:r>
              <a:t>• 历史项目：设计方案、运行数据</a:t>
            </a:r>
          </a:p>
          <a:p>
            <a:pPr>
              <a:spcAft>
                <a:spcPts val="800"/>
              </a:spcAft>
              <a:defRPr sz="1800" b="0"/>
            </a:pPr>
            <a:r>
              <a:t>• 典型案例：成功经验、失败教训</a:t>
            </a:r>
          </a:p>
          <a:p>
            <a:pPr>
              <a:spcAft>
                <a:spcPts val="800"/>
              </a:spcAft>
              <a:defRPr sz="1800" b="0"/>
            </a:pPr>
            <a:r>
              <a:t>• 专家经验：老工程师的隐性知识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3. 物理约束（Physics）</a:t>
            </a:r>
          </a:p>
          <a:p>
            <a:pPr>
              <a:spcAft>
                <a:spcPts val="800"/>
              </a:spcAft>
              <a:defRPr sz="1800" b="0"/>
            </a:pPr>
            <a:r>
              <a:t>• 水力学原理：连续性方程、能量方程</a:t>
            </a:r>
          </a:p>
          <a:p>
            <a:pPr>
              <a:spcAft>
                <a:spcPts val="800"/>
              </a:spcAft>
              <a:defRPr sz="1800" b="0"/>
            </a:pPr>
            <a:r>
              <a:t>• 设备特性：水泵曲线、阀门特性</a:t>
            </a:r>
          </a:p>
          <a:p>
            <a:pPr>
              <a:spcAft>
                <a:spcPts val="800"/>
              </a:spcAft>
              <a:defRPr sz="1800" b="0"/>
            </a:pPr>
            <a:r>
              <a:t>• 边界条件：流量范围、压力限制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E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案例库：经验沉淀与复用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案例库的价值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案例结构：</a:t>
            </a:r>
          </a:p>
          <a:p>
            <a:pPr>
              <a:spcAft>
                <a:spcPts val="800"/>
              </a:spcAft>
              <a:defRPr sz="1800" b="0"/>
            </a:pPr>
            <a:r>
              <a:t>• 场景描述：用户需求、边界条件</a:t>
            </a:r>
          </a:p>
          <a:p>
            <a:pPr>
              <a:spcAft>
                <a:spcPts val="800"/>
              </a:spcAft>
              <a:defRPr sz="1800" b="0"/>
            </a:pPr>
            <a:r>
              <a:t>• 解决方案：设计参数、计算过程</a:t>
            </a:r>
          </a:p>
          <a:p>
            <a:pPr>
              <a:spcAft>
                <a:spcPts val="800"/>
              </a:spcAft>
              <a:defRPr sz="1800" b="0"/>
            </a:pPr>
            <a:r>
              <a:t>• 结果评估：性能指标、优缺点</a:t>
            </a:r>
          </a:p>
          <a:p>
            <a:pPr>
              <a:spcAft>
                <a:spcPts val="800"/>
              </a:spcAft>
              <a:defRPr sz="1800" b="0"/>
            </a:pPr>
            <a:r>
              <a:t>• 经验总结：注意事项、优化建议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案例检索：</a:t>
            </a:r>
          </a:p>
          <a:p>
            <a:pPr>
              <a:spcAft>
                <a:spcPts val="800"/>
              </a:spcAft>
              <a:defRPr sz="1800" b="0"/>
            </a:pPr>
            <a:r>
              <a:t>• 向量化表示：将案例转为向量</a:t>
            </a:r>
          </a:p>
          <a:p>
            <a:pPr>
              <a:spcAft>
                <a:spcPts val="800"/>
              </a:spcAft>
              <a:defRPr sz="1800" b="0"/>
            </a:pPr>
            <a:r>
              <a:t>• 相似度匹配：找到最相似的历史案例</a:t>
            </a:r>
          </a:p>
          <a:p>
            <a:pPr>
              <a:spcAft>
                <a:spcPts val="800"/>
              </a:spcAft>
              <a:defRPr sz="1800" b="0"/>
            </a:pPr>
            <a:r>
              <a:t>• 迁移学习：借鉴历史经验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案例积累：</a:t>
            </a:r>
          </a:p>
          <a:p>
            <a:pPr>
              <a:spcAft>
                <a:spcPts val="800"/>
              </a:spcAft>
              <a:defRPr sz="1800" b="0"/>
            </a:pPr>
            <a:r>
              <a:t>• 每次设计都沉淀为案例</a:t>
            </a:r>
          </a:p>
          <a:p>
            <a:pPr>
              <a:spcAft>
                <a:spcPts val="800"/>
              </a:spcAft>
              <a:defRPr sz="1800" b="0"/>
            </a:pPr>
            <a:r>
              <a:t>• 专家审核，确保质量</a:t>
            </a:r>
          </a:p>
          <a:p>
            <a:pPr>
              <a:spcAft>
                <a:spcPts val="800"/>
              </a:spcAft>
              <a:defRPr sz="1800" b="0"/>
            </a:pPr>
            <a:r>
              <a:t>• 持续积累，越用越智能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E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规则引擎：安全兜底机制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规则引擎的三层防护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第一层：硬约束（Hard Constraints）</a:t>
            </a:r>
          </a:p>
          <a:p>
            <a:pPr>
              <a:spcAft>
                <a:spcPts val="800"/>
              </a:spcAft>
              <a:defRPr sz="1800" b="0"/>
            </a:pPr>
            <a:r>
              <a:t>• 物理规律：流速、压力、管径</a:t>
            </a:r>
          </a:p>
          <a:p>
            <a:pPr>
              <a:spcAft>
                <a:spcPts val="800"/>
              </a:spcAft>
              <a:defRPr sz="1800" b="0"/>
            </a:pPr>
            <a:r>
              <a:t>• 不可违反，否则方案无效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第二层：软约束（Soft Constraints）</a:t>
            </a:r>
          </a:p>
          <a:p>
            <a:pPr>
              <a:spcAft>
                <a:spcPts val="800"/>
              </a:spcAft>
              <a:defRPr sz="1800" b="0"/>
            </a:pPr>
            <a:r>
              <a:t>• 设计规范：推荐值、经验范围</a:t>
            </a:r>
          </a:p>
          <a:p>
            <a:pPr>
              <a:spcAft>
                <a:spcPts val="800"/>
              </a:spcAft>
              <a:defRPr sz="1800" b="0"/>
            </a:pPr>
            <a:r>
              <a:t>• 可以违反，但需要说明理由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第三层：优化目标（Objectives）</a:t>
            </a:r>
          </a:p>
          <a:p>
            <a:pPr>
              <a:spcAft>
                <a:spcPts val="800"/>
              </a:spcAft>
              <a:defRPr sz="1800" b="0"/>
            </a:pPr>
            <a:r>
              <a:t>• 经济性：投资最小、运行费用最低</a:t>
            </a:r>
          </a:p>
          <a:p>
            <a:pPr>
              <a:spcAft>
                <a:spcPts val="800"/>
              </a:spcAft>
              <a:defRPr sz="1800" b="0"/>
            </a:pPr>
            <a:r>
              <a:t>• 可靠性：供水保证率、冗余度</a:t>
            </a:r>
          </a:p>
          <a:p>
            <a:pPr>
              <a:spcAft>
                <a:spcPts val="800"/>
              </a:spcAft>
              <a:defRPr sz="1800" b="0"/>
            </a:pPr>
            <a:r>
              <a:t>• 环保性：能耗、碳排放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工作流程：</a:t>
            </a:r>
          </a:p>
          <a:p>
            <a:pPr>
              <a:spcAft>
                <a:spcPts val="800"/>
              </a:spcAft>
              <a:defRPr sz="1800" b="0"/>
            </a:pPr>
            <a:r>
              <a:t>• 大模型生成方案 → 规则引擎校核</a:t>
            </a:r>
          </a:p>
          <a:p>
            <a:pPr>
              <a:spcAft>
                <a:spcPts val="800"/>
              </a:spcAft>
              <a:defRPr sz="1800" b="0"/>
            </a:pPr>
            <a:r>
              <a:t>• 违反硬约束 → 拒绝方案，重新生成</a:t>
            </a:r>
          </a:p>
          <a:p>
            <a:pPr>
              <a:spcAft>
                <a:spcPts val="800"/>
              </a:spcAft>
              <a:defRPr sz="1800" b="0"/>
            </a:pPr>
            <a:r>
              <a:t>• 违反软约束 → 警告提示，由用户决定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第五部分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个人水网智能体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C000"/>
                </a:solidFill>
              </a:defRPr>
            </a:pPr>
            <a:r>
              <a:t>每个人的AI助手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个人水网智能体：每个人的AI助手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什么是个人水网智能体？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传统模式：</a:t>
            </a:r>
          </a:p>
          <a:p>
            <a:pPr>
              <a:spcAft>
                <a:spcPts val="800"/>
              </a:spcAft>
              <a:defRPr sz="1800" b="0"/>
            </a:pPr>
            <a:r>
              <a:t>• 工程师需要学习复杂的软件</a:t>
            </a:r>
          </a:p>
          <a:p>
            <a:pPr>
              <a:spcAft>
                <a:spcPts val="800"/>
              </a:spcAft>
              <a:defRPr sz="1800" b="0"/>
            </a:pPr>
            <a:r>
              <a:t>• 需要掌握大量专业知识</a:t>
            </a:r>
          </a:p>
          <a:p>
            <a:pPr>
              <a:spcAft>
                <a:spcPts val="800"/>
              </a:spcAft>
              <a:defRPr sz="1800" b="0"/>
            </a:pPr>
            <a:r>
              <a:t>• 新人培养周期长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智能体模式：</a:t>
            </a:r>
          </a:p>
          <a:p>
            <a:pPr>
              <a:spcAft>
                <a:spcPts val="800"/>
              </a:spcAft>
              <a:defRPr sz="1800" b="0"/>
            </a:pPr>
            <a:r>
              <a:t>• 自然语言交互，降低使用门槛</a:t>
            </a:r>
          </a:p>
          <a:p>
            <a:pPr>
              <a:spcAft>
                <a:spcPts val="800"/>
              </a:spcAft>
              <a:defRPr sz="1800" b="0"/>
            </a:pPr>
            <a:r>
              <a:t>• AI助手辅助决策，提高效率</a:t>
            </a:r>
          </a:p>
          <a:p>
            <a:pPr>
              <a:spcAft>
                <a:spcPts val="800"/>
              </a:spcAft>
              <a:defRPr sz="1800" b="0"/>
            </a:pPr>
            <a:r>
              <a:t>• 知识自动沉淀，经验快速复用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三类典型用户：</a:t>
            </a:r>
          </a:p>
          <a:p>
            <a:pPr>
              <a:spcAft>
                <a:spcPts val="800"/>
              </a:spcAft>
              <a:defRPr sz="1800" b="0"/>
            </a:pPr>
            <a:r>
              <a:t>• 设计工程师：自动生成设计方案</a:t>
            </a:r>
          </a:p>
          <a:p>
            <a:pPr>
              <a:spcAft>
                <a:spcPts val="800"/>
              </a:spcAft>
              <a:defRPr sz="1800" b="0"/>
            </a:pPr>
            <a:r>
              <a:t>• 运维人员：智能诊断故障</a:t>
            </a:r>
          </a:p>
          <a:p>
            <a:pPr>
              <a:spcAft>
                <a:spcPts val="800"/>
              </a:spcAft>
              <a:defRPr sz="1800" b="0"/>
            </a:pPr>
            <a:r>
              <a:t>• 科研人员：快速验证假设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场景1：设计工程师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用户：'设计一个供水量5000m³/d的水厂'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智能体工作流程：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1. 需求分析</a:t>
            </a:r>
          </a:p>
          <a:p>
            <a:pPr>
              <a:spcAft>
                <a:spcPts val="800"/>
              </a:spcAft>
              <a:defRPr sz="1800" b="0"/>
            </a:pPr>
            <a:r>
              <a:t>   • 解析用户意图：新建水厂设计</a:t>
            </a:r>
          </a:p>
          <a:p>
            <a:pPr>
              <a:spcAft>
                <a:spcPts val="800"/>
              </a:spcAft>
              <a:defRPr sz="1800" b="0"/>
            </a:pPr>
            <a:r>
              <a:t>   • 提取关键参数：供水量、服务人口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2. 方案生成</a:t>
            </a:r>
          </a:p>
          <a:p>
            <a:pPr>
              <a:spcAft>
                <a:spcPts val="800"/>
              </a:spcAft>
              <a:defRPr sz="1800" b="0"/>
            </a:pPr>
            <a:r>
              <a:t>   • 检索相似案例：找到3个类似项目</a:t>
            </a:r>
          </a:p>
          <a:p>
            <a:pPr>
              <a:spcAft>
                <a:spcPts val="800"/>
              </a:spcAft>
              <a:defRPr sz="1800" b="0"/>
            </a:pPr>
            <a:r>
              <a:t>   • 生成初步方案：水源、水厂、管网</a:t>
            </a:r>
          </a:p>
          <a:p>
            <a:pPr>
              <a:spcAft>
                <a:spcPts val="800"/>
              </a:spcAft>
              <a:defRPr sz="1800" b="0"/>
            </a:pPr>
            <a:r>
              <a:t>   • 规则引擎校核：符合规范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3. 优化调整</a:t>
            </a:r>
          </a:p>
          <a:p>
            <a:pPr>
              <a:spcAft>
                <a:spcPts val="800"/>
              </a:spcAft>
              <a:defRPr sz="1800" b="0"/>
            </a:pPr>
            <a:r>
              <a:t>   • 多目标优化：投资、能耗、可靠性</a:t>
            </a:r>
          </a:p>
          <a:p>
            <a:pPr>
              <a:spcAft>
                <a:spcPts val="800"/>
              </a:spcAft>
              <a:defRPr sz="1800" b="0"/>
            </a:pPr>
            <a:r>
              <a:t>   • 生成3个备选方案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4. 成果输出</a:t>
            </a:r>
          </a:p>
          <a:p>
            <a:pPr>
              <a:spcAft>
                <a:spcPts val="800"/>
              </a:spcAft>
              <a:defRPr sz="1800" b="0"/>
            </a:pPr>
            <a:r>
              <a:t>   • 自动出图：平面图、高程图</a:t>
            </a:r>
          </a:p>
          <a:p>
            <a:pPr>
              <a:spcAft>
                <a:spcPts val="800"/>
              </a:spcAft>
              <a:defRPr sz="1800" b="0"/>
            </a:pPr>
            <a:r>
              <a:t>   • 生成报告：设计说明、计算书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场景2：运维人员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用户：'XX区域水压偏低，帮我诊断原因'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智能体工作流程：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1. 数据采集</a:t>
            </a:r>
          </a:p>
          <a:p>
            <a:pPr>
              <a:spcAft>
                <a:spcPts val="800"/>
              </a:spcAft>
              <a:defRPr sz="1800" b="0"/>
            </a:pPr>
            <a:r>
              <a:t>   • 读取实时监测数据：流量、压力</a:t>
            </a:r>
          </a:p>
          <a:p>
            <a:pPr>
              <a:spcAft>
                <a:spcPts val="800"/>
              </a:spcAft>
              <a:defRPr sz="1800" b="0"/>
            </a:pPr>
            <a:r>
              <a:t>   • 读取历史数据：对比正常值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2. 故障诊断</a:t>
            </a:r>
          </a:p>
          <a:p>
            <a:pPr>
              <a:spcAft>
                <a:spcPts val="800"/>
              </a:spcAft>
              <a:defRPr sz="1800" b="0"/>
            </a:pPr>
            <a:r>
              <a:t>   • 水力仿真：模拟当前工况</a:t>
            </a:r>
          </a:p>
          <a:p>
            <a:pPr>
              <a:spcAft>
                <a:spcPts val="800"/>
              </a:spcAft>
              <a:defRPr sz="1800" b="0"/>
            </a:pPr>
            <a:r>
              <a:t>   • 原因分析：管道堵塞？阀门误操作？</a:t>
            </a:r>
          </a:p>
          <a:p>
            <a:pPr>
              <a:spcAft>
                <a:spcPts val="800"/>
              </a:spcAft>
              <a:defRPr sz="1800" b="0"/>
            </a:pPr>
            <a:r>
              <a:t>   • 给出诊断结果：3个可能原因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3. 解决方案</a:t>
            </a:r>
          </a:p>
          <a:p>
            <a:pPr>
              <a:spcAft>
                <a:spcPts val="800"/>
              </a:spcAft>
              <a:defRPr sz="1800" b="0"/>
            </a:pPr>
            <a:r>
              <a:t>   • 生成应急方案：调整水泵、开启阀门</a:t>
            </a:r>
          </a:p>
          <a:p>
            <a:pPr>
              <a:spcAft>
                <a:spcPts val="800"/>
              </a:spcAft>
              <a:defRPr sz="1800" b="0"/>
            </a:pPr>
            <a:r>
              <a:t>   • 仿真验证：方案可行性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4. 执行反馈</a:t>
            </a:r>
          </a:p>
          <a:p>
            <a:pPr>
              <a:spcAft>
                <a:spcPts val="800"/>
              </a:spcAft>
              <a:defRPr sz="1800" b="0"/>
            </a:pPr>
            <a:r>
              <a:t>   • 推送操作指令到SCADA</a:t>
            </a:r>
          </a:p>
          <a:p>
            <a:pPr>
              <a:spcAft>
                <a:spcPts val="800"/>
              </a:spcAft>
              <a:defRPr sz="1800" b="0"/>
            </a:pPr>
            <a:r>
              <a:t>   • 监测效果，持续优化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场景3：科研人员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用户：'验证新型调度算法的效果'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智能体工作流程：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1. 实验设计</a:t>
            </a:r>
          </a:p>
          <a:p>
            <a:pPr>
              <a:spcAft>
                <a:spcPts val="800"/>
              </a:spcAft>
              <a:defRPr sz="1800" b="0"/>
            </a:pPr>
            <a:r>
              <a:t>   • 理解研究目标：对比新旧算法</a:t>
            </a:r>
          </a:p>
          <a:p>
            <a:pPr>
              <a:spcAft>
                <a:spcPts val="800"/>
              </a:spcAft>
              <a:defRPr sz="1800" b="0"/>
            </a:pPr>
            <a:r>
              <a:t>   • 设计实验方案：测试场景、评价指标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2. 数据准备</a:t>
            </a:r>
          </a:p>
          <a:p>
            <a:pPr>
              <a:spcAft>
                <a:spcPts val="800"/>
              </a:spcAft>
              <a:defRPr sz="1800" b="0"/>
            </a:pPr>
            <a:r>
              <a:t>   • 生成测试数据：典型工况、极端工况</a:t>
            </a:r>
          </a:p>
          <a:p>
            <a:pPr>
              <a:spcAft>
                <a:spcPts val="800"/>
              </a:spcAft>
              <a:defRPr sz="1800" b="0"/>
            </a:pPr>
            <a:r>
              <a:t>   • 构建仿真模型：数字孪生水网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3. 算法对比</a:t>
            </a:r>
          </a:p>
          <a:p>
            <a:pPr>
              <a:spcAft>
                <a:spcPts val="800"/>
              </a:spcAft>
              <a:defRPr sz="1800" b="0"/>
            </a:pPr>
            <a:r>
              <a:t>   • 运行新算法：求解优化问题</a:t>
            </a:r>
          </a:p>
          <a:p>
            <a:pPr>
              <a:spcAft>
                <a:spcPts val="800"/>
              </a:spcAft>
              <a:defRPr sz="1800" b="0"/>
            </a:pPr>
            <a:r>
              <a:t>   • 运行基准算法：传统方法</a:t>
            </a:r>
          </a:p>
          <a:p>
            <a:pPr>
              <a:spcAft>
                <a:spcPts val="800"/>
              </a:spcAft>
              <a:defRPr sz="1800" b="0"/>
            </a:pPr>
            <a:r>
              <a:t>   • 仿真验证：评估性能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4. 结果分析</a:t>
            </a:r>
          </a:p>
          <a:p>
            <a:pPr>
              <a:spcAft>
                <a:spcPts val="800"/>
              </a:spcAft>
              <a:defRPr sz="1800" b="0"/>
            </a:pPr>
            <a:r>
              <a:t>   • 生成对比图表：能耗、成本、可靠性</a:t>
            </a:r>
          </a:p>
          <a:p>
            <a:pPr>
              <a:spcAft>
                <a:spcPts val="800"/>
              </a:spcAft>
              <a:defRPr sz="1800" b="0"/>
            </a:pPr>
            <a:r>
              <a:t>   • 撰写分析报告：结论、建议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第六部分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认知决策层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C000"/>
                </a:solidFill>
              </a:defRPr>
            </a:pPr>
            <a:r>
              <a:t>大模型与规则协同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大模型与规则的分工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如何划分大模型和规则引擎的职责？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大模型负责：</a:t>
            </a:r>
          </a:p>
          <a:p>
            <a:pPr>
              <a:spcAft>
                <a:spcPts val="800"/>
              </a:spcAft>
              <a:defRPr sz="1800" b="0"/>
            </a:pPr>
            <a:r>
              <a:t>• 理解：解析用户自然语言输入</a:t>
            </a:r>
          </a:p>
          <a:p>
            <a:pPr>
              <a:spcAft>
                <a:spcPts val="800"/>
              </a:spcAft>
              <a:defRPr sz="1800" b="0"/>
            </a:pPr>
            <a:r>
              <a:t>• 推理：分析问题，制定策略</a:t>
            </a:r>
          </a:p>
          <a:p>
            <a:pPr>
              <a:spcAft>
                <a:spcPts val="800"/>
              </a:spcAft>
              <a:defRPr sz="1800" b="0"/>
            </a:pPr>
            <a:r>
              <a:t>• 生成：编写代码、生成报告</a:t>
            </a:r>
          </a:p>
          <a:p>
            <a:pPr>
              <a:spcAft>
                <a:spcPts val="800"/>
              </a:spcAft>
              <a:defRPr sz="1800" b="0"/>
            </a:pPr>
            <a:r>
              <a:t>• 学习：从案例中总结经验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规则引擎负责：</a:t>
            </a:r>
          </a:p>
          <a:p>
            <a:pPr>
              <a:spcAft>
                <a:spcPts val="800"/>
              </a:spcAft>
              <a:defRPr sz="1800" b="0"/>
            </a:pPr>
            <a:r>
              <a:t>• 约束：物理规律、设计规范</a:t>
            </a:r>
          </a:p>
          <a:p>
            <a:pPr>
              <a:spcAft>
                <a:spcPts val="800"/>
              </a:spcAft>
              <a:defRPr sz="1800" b="0"/>
            </a:pPr>
            <a:r>
              <a:t>• 校核：验证方案合规性</a:t>
            </a:r>
          </a:p>
          <a:p>
            <a:pPr>
              <a:spcAft>
                <a:spcPts val="800"/>
              </a:spcAft>
              <a:defRPr sz="1800" b="0"/>
            </a:pPr>
            <a:r>
              <a:t>• 兜底：大模型失效时接管</a:t>
            </a:r>
          </a:p>
          <a:p>
            <a:pPr>
              <a:spcAft>
                <a:spcPts val="800"/>
              </a:spcAft>
              <a:defRPr sz="1800" b="0"/>
            </a:pPr>
            <a:r>
              <a:t>• 解释：说明决策依据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协同机制：</a:t>
            </a:r>
          </a:p>
          <a:p>
            <a:pPr>
              <a:spcAft>
                <a:spcPts val="800"/>
              </a:spcAft>
              <a:defRPr sz="1800" b="0"/>
            </a:pPr>
            <a:r>
              <a:t>• 大模型生成 → 规则校核 → 反馈修正</a:t>
            </a:r>
          </a:p>
          <a:p>
            <a:pPr>
              <a:spcAft>
                <a:spcPts val="800"/>
              </a:spcAft>
              <a:defRPr sz="1800" b="0"/>
            </a:pPr>
            <a:r>
              <a:t>• 迭代优化，直到满足约束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规则继承体系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规则的层次化组织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基础规则（Base Rules）：</a:t>
            </a:r>
          </a:p>
          <a:p>
            <a:pPr>
              <a:spcAft>
                <a:spcPts val="800"/>
              </a:spcAft>
              <a:defRPr sz="1800" b="0"/>
            </a:pPr>
            <a:r>
              <a:t>• 物理规律：连续性方程、能量方程</a:t>
            </a:r>
          </a:p>
          <a:p>
            <a:pPr>
              <a:spcAft>
                <a:spcPts val="800"/>
              </a:spcAft>
              <a:defRPr sz="1800" b="0"/>
            </a:pPr>
            <a:r>
              <a:t>• 适用于所有场景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领域规则（Domain Rules）：</a:t>
            </a:r>
          </a:p>
          <a:p>
            <a:pPr>
              <a:spcAft>
                <a:spcPts val="800"/>
              </a:spcAft>
              <a:defRPr sz="1800" b="0"/>
            </a:pPr>
            <a:r>
              <a:t>• 给水规范：管径、流速、压力</a:t>
            </a:r>
          </a:p>
          <a:p>
            <a:pPr>
              <a:spcAft>
                <a:spcPts val="800"/>
              </a:spcAft>
              <a:defRPr sz="1800" b="0"/>
            </a:pPr>
            <a:r>
              <a:t>• 排水规范：坡度、充满度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场景规则（Scenario Rules）：</a:t>
            </a:r>
          </a:p>
          <a:p>
            <a:pPr>
              <a:spcAft>
                <a:spcPts val="800"/>
              </a:spcAft>
              <a:defRPr sz="1800" b="0"/>
            </a:pPr>
            <a:r>
              <a:t>• 设计场景：管网设计、水厂设计</a:t>
            </a:r>
          </a:p>
          <a:p>
            <a:pPr>
              <a:spcAft>
                <a:spcPts val="800"/>
              </a:spcAft>
              <a:defRPr sz="1800" b="0"/>
            </a:pPr>
            <a:r>
              <a:t>• 运维场景：调度优化、故障诊断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继承机制：</a:t>
            </a:r>
          </a:p>
          <a:p>
            <a:pPr>
              <a:spcAft>
                <a:spcPts val="800"/>
              </a:spcAft>
              <a:defRPr sz="1800" b="0"/>
            </a:pPr>
            <a:r>
              <a:t>• 子规则继承父规则</a:t>
            </a:r>
          </a:p>
          <a:p>
            <a:pPr>
              <a:spcAft>
                <a:spcPts val="800"/>
              </a:spcAft>
              <a:defRPr sz="1800" b="0"/>
            </a:pPr>
            <a:r>
              <a:t>• 可以覆盖（Override）父规则</a:t>
            </a:r>
          </a:p>
          <a:p>
            <a:pPr>
              <a:spcAft>
                <a:spcPts val="800"/>
              </a:spcAft>
              <a:defRPr sz="1800" b="0"/>
            </a:pPr>
            <a:r>
              <a:t>• 避免重复定义，提高维护性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回复模板：结构化输出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为什么需要回复模板？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问题：</a:t>
            </a:r>
          </a:p>
          <a:p>
            <a:pPr>
              <a:spcAft>
                <a:spcPts val="800"/>
              </a:spcAft>
              <a:defRPr sz="1800" b="0"/>
            </a:pPr>
            <a:r>
              <a:t>• 大模型输出格式不统一</a:t>
            </a:r>
          </a:p>
          <a:p>
            <a:pPr>
              <a:spcAft>
                <a:spcPts val="800"/>
              </a:spcAft>
              <a:defRPr sz="1800" b="0"/>
            </a:pPr>
            <a:r>
              <a:t>• 难以解析和处理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解决方案：</a:t>
            </a:r>
          </a:p>
          <a:p>
            <a:pPr>
              <a:spcAft>
                <a:spcPts val="800"/>
              </a:spcAft>
              <a:defRPr sz="1800" b="0"/>
            </a:pPr>
            <a:r>
              <a:t>• 定义结构化回复模板</a:t>
            </a:r>
          </a:p>
          <a:p>
            <a:pPr>
              <a:spcAft>
                <a:spcPts val="800"/>
              </a:spcAft>
              <a:defRPr sz="1800" b="0"/>
            </a:pPr>
            <a:r>
              <a:t>• 大模型按模板生成输出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模板示例（设计方案）：</a:t>
            </a:r>
          </a:p>
          <a:p>
            <a:pPr>
              <a:spcAft>
                <a:spcPts val="800"/>
              </a:spcAft>
              <a:defRPr sz="1800" b="0"/>
            </a:pPr>
            <a:r>
              <a:t>• 方案概述：设计思路、关键参数</a:t>
            </a:r>
          </a:p>
          <a:p>
            <a:pPr>
              <a:spcAft>
                <a:spcPts val="800"/>
              </a:spcAft>
              <a:defRPr sz="1800" b="0"/>
            </a:pPr>
            <a:r>
              <a:t>• 详细设计：管网布局、设备选型</a:t>
            </a:r>
          </a:p>
          <a:p>
            <a:pPr>
              <a:spcAft>
                <a:spcPts val="800"/>
              </a:spcAft>
              <a:defRPr sz="1800" b="0"/>
            </a:pPr>
            <a:r>
              <a:t>• 计算结果：流量、压力、能耗</a:t>
            </a:r>
          </a:p>
          <a:p>
            <a:pPr>
              <a:spcAft>
                <a:spcPts val="800"/>
              </a:spcAft>
              <a:defRPr sz="1800" b="0"/>
            </a:pPr>
            <a:r>
              <a:t>• 合规性说明：符合哪些规范</a:t>
            </a:r>
          </a:p>
          <a:p>
            <a:pPr>
              <a:spcAft>
                <a:spcPts val="800"/>
              </a:spcAft>
              <a:defRPr sz="1800" b="0"/>
            </a:pPr>
            <a:r>
              <a:t>• 优化建议：可改进的地方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优势：</a:t>
            </a:r>
          </a:p>
          <a:p>
            <a:pPr>
              <a:spcAft>
                <a:spcPts val="800"/>
              </a:spcAft>
              <a:defRPr sz="1800" b="0"/>
            </a:pPr>
            <a:r>
              <a:t>• 输出规范，易于解析</a:t>
            </a:r>
          </a:p>
          <a:p>
            <a:pPr>
              <a:spcAft>
                <a:spcPts val="800"/>
              </a:spcAft>
              <a:defRPr sz="1800" b="0"/>
            </a:pPr>
            <a:r>
              <a:t>• 可解释性强，工程师易理解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决策流程示例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用户请求：'设计一个小区供水管网'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Step 1：意图理解（大模型）</a:t>
            </a:r>
          </a:p>
          <a:p>
            <a:pPr>
              <a:spcAft>
                <a:spcPts val="800"/>
              </a:spcAft>
              <a:defRPr sz="1800" b="0"/>
            </a:pPr>
            <a:r>
              <a:t>• 识别任务类型：管网设计</a:t>
            </a:r>
          </a:p>
          <a:p>
            <a:pPr>
              <a:spcAft>
                <a:spcPts val="800"/>
              </a:spcAft>
              <a:defRPr sz="1800" b="0"/>
            </a:pPr>
            <a:r>
              <a:t>• 提取参数：小区规模、用水量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Step 2：方案生成（大模型）</a:t>
            </a:r>
          </a:p>
          <a:p>
            <a:pPr>
              <a:spcAft>
                <a:spcPts val="800"/>
              </a:spcAft>
              <a:defRPr sz="1800" b="0"/>
            </a:pPr>
            <a:r>
              <a:t>• 检索相似案例</a:t>
            </a:r>
          </a:p>
          <a:p>
            <a:pPr>
              <a:spcAft>
                <a:spcPts val="800"/>
              </a:spcAft>
              <a:defRPr sz="1800" b="0"/>
            </a:pPr>
            <a:r>
              <a:t>• 生成初步方案：管网拓扑、管径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Step 3：规则校核（规则引擎）</a:t>
            </a:r>
          </a:p>
          <a:p>
            <a:pPr>
              <a:spcAft>
                <a:spcPts val="800"/>
              </a:spcAft>
              <a:defRPr sz="1800" b="0"/>
            </a:pPr>
            <a:r>
              <a:t>• 检查流速：2-3 m/s ✓</a:t>
            </a:r>
          </a:p>
          <a:p>
            <a:pPr>
              <a:spcAft>
                <a:spcPts val="800"/>
              </a:spcAft>
              <a:defRPr sz="1800" b="0"/>
            </a:pPr>
            <a:r>
              <a:t>• 检查压力：0.28-0.35 MPa ✓</a:t>
            </a:r>
          </a:p>
          <a:p>
            <a:pPr>
              <a:spcAft>
                <a:spcPts val="800"/>
              </a:spcAft>
              <a:defRPr sz="1800" b="0"/>
            </a:pPr>
            <a:r>
              <a:t>• 检查管径：≥DN100 ✓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Step 4：优化调整（大模型+优化引擎）</a:t>
            </a:r>
          </a:p>
          <a:p>
            <a:pPr>
              <a:spcAft>
                <a:spcPts val="800"/>
              </a:spcAft>
              <a:defRPr sz="1800" b="0"/>
            </a:pPr>
            <a:r>
              <a:t>• 多目标优化：投资最小、可靠性高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Step 5：结果输出（大模型）</a:t>
            </a:r>
          </a:p>
          <a:p>
            <a:pPr>
              <a:spcAft>
                <a:spcPts val="800"/>
              </a:spcAft>
              <a:defRPr sz="1800" b="0"/>
            </a:pPr>
            <a:r>
              <a:t>• 生成设计说明、计算书、图纸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第七部分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技能编排层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C000"/>
                </a:solidFill>
              </a:defRPr>
            </a:pPr>
            <a:r>
              <a:t>Skill即角色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技能继承体系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Skill即角色的实现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基类Skill：</a:t>
            </a:r>
          </a:p>
          <a:p>
            <a:pPr>
              <a:spcAft>
                <a:spcPts val="800"/>
              </a:spcAft>
              <a:defRPr sz="1800" b="0"/>
            </a:pPr>
            <a:r>
              <a:t>• 定义通用接口：execute()、validate()</a:t>
            </a:r>
          </a:p>
          <a:p>
            <a:pPr>
              <a:spcAft>
                <a:spcPts val="800"/>
              </a:spcAft>
              <a:defRPr sz="1800" b="0"/>
            </a:pPr>
            <a:r>
              <a:t>• 提供公共能力：日志、异常处理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子类继承：</a:t>
            </a:r>
          </a:p>
          <a:p>
            <a:pPr>
              <a:spcAft>
                <a:spcPts val="800"/>
              </a:spcAft>
              <a:defRPr sz="1800" b="0"/>
            </a:pPr>
            <a:r>
              <a:t>• WaterSupplySkill：给水领域基础技能</a:t>
            </a:r>
          </a:p>
          <a:p>
            <a:pPr>
              <a:spcAft>
                <a:spcPts val="800"/>
              </a:spcAft>
              <a:defRPr sz="1800" b="0"/>
            </a:pPr>
            <a:r>
              <a:t>  - PipeDesignSkill：管网设计</a:t>
            </a:r>
          </a:p>
          <a:p>
            <a:pPr>
              <a:spcAft>
                <a:spcPts val="800"/>
              </a:spcAft>
              <a:defRPr sz="1800" b="0"/>
            </a:pPr>
            <a:r>
              <a:t>  - PumpSelectionSkill：水泵选型</a:t>
            </a:r>
          </a:p>
          <a:p>
            <a:pPr>
              <a:spcAft>
                <a:spcPts val="800"/>
              </a:spcAft>
              <a:defRPr sz="1800" b="0"/>
            </a:pPr>
            <a:r>
              <a:t>• DrainageSkill：排水领域基础技能</a:t>
            </a:r>
          </a:p>
          <a:p>
            <a:pPr>
              <a:spcAft>
                <a:spcPts val="800"/>
              </a:spcAft>
              <a:defRPr sz="1800" b="0"/>
            </a:pPr>
            <a:r>
              <a:t>  - SewerDesignSkill：排水管网设计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优势：</a:t>
            </a:r>
          </a:p>
          <a:p>
            <a:pPr>
              <a:spcAft>
                <a:spcPts val="800"/>
              </a:spcAft>
              <a:defRPr sz="1800" b="0"/>
            </a:pPr>
            <a:r>
              <a:t>• 代码复用：避免重复开发</a:t>
            </a:r>
          </a:p>
          <a:p>
            <a:pPr>
              <a:spcAft>
                <a:spcPts val="800"/>
              </a:spcAft>
              <a:defRPr sz="1800" b="0"/>
            </a:pPr>
            <a:r>
              <a:t>• 知识传承：父类知识自动继承</a:t>
            </a:r>
          </a:p>
          <a:p>
            <a:pPr>
              <a:spcAft>
                <a:spcPts val="800"/>
              </a:spcAft>
              <a:defRPr sz="1800" b="0"/>
            </a:pPr>
            <a:r>
              <a:t>• 易于扩展：新增技能只需继承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原子技能：最小功能单元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原子技能示例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1. 计算类技能</a:t>
            </a:r>
          </a:p>
          <a:p>
            <a:pPr>
              <a:spcAft>
                <a:spcPts val="800"/>
              </a:spcAft>
              <a:defRPr sz="1800" b="0"/>
            </a:pPr>
            <a:r>
              <a:t>• FlowCalculation：流量计算</a:t>
            </a:r>
          </a:p>
          <a:p>
            <a:pPr>
              <a:spcAft>
                <a:spcPts val="800"/>
              </a:spcAft>
              <a:defRPr sz="1800" b="0"/>
            </a:pPr>
            <a:r>
              <a:t>• PressureCalculation：压力计算</a:t>
            </a:r>
          </a:p>
          <a:p>
            <a:pPr>
              <a:spcAft>
                <a:spcPts val="800"/>
              </a:spcAft>
              <a:defRPr sz="1800" b="0"/>
            </a:pPr>
            <a:r>
              <a:t>• HeadLossCalculation：水头损失计算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2. 查询类技能</a:t>
            </a:r>
          </a:p>
          <a:p>
            <a:pPr>
              <a:spcAft>
                <a:spcPts val="800"/>
              </a:spcAft>
              <a:defRPr sz="1800" b="0"/>
            </a:pPr>
            <a:r>
              <a:t>• ComponentQuery：元件查询</a:t>
            </a:r>
          </a:p>
          <a:p>
            <a:pPr>
              <a:spcAft>
                <a:spcPts val="800"/>
              </a:spcAft>
              <a:defRPr sz="1800" b="0"/>
            </a:pPr>
            <a:r>
              <a:t>• CaseRetrieval：案例检索</a:t>
            </a:r>
          </a:p>
          <a:p>
            <a:pPr>
              <a:spcAft>
                <a:spcPts val="800"/>
              </a:spcAft>
              <a:defRPr sz="1800" b="0"/>
            </a:pPr>
            <a:r>
              <a:t>• RuleQuery：规则查询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3. 可视化技能</a:t>
            </a:r>
          </a:p>
          <a:p>
            <a:pPr>
              <a:spcAft>
                <a:spcPts val="800"/>
              </a:spcAft>
              <a:defRPr sz="1800" b="0"/>
            </a:pPr>
            <a:r>
              <a:t>• ChartPlotting：图表绘制</a:t>
            </a:r>
          </a:p>
          <a:p>
            <a:pPr>
              <a:spcAft>
                <a:spcPts val="800"/>
              </a:spcAft>
              <a:defRPr sz="1800" b="0"/>
            </a:pPr>
            <a:r>
              <a:t>• NetworkVisualization：管网可视化</a:t>
            </a:r>
          </a:p>
          <a:p>
            <a:pPr>
              <a:spcAft>
                <a:spcPts val="800"/>
              </a:spcAft>
              <a:defRPr sz="1800" b="0"/>
            </a:pPr>
            <a:r>
              <a:t>• ReportGeneration：报告生成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复合技能：多技能组合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复合技能示例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HydraulicAnalysis（水力分析）：</a:t>
            </a:r>
          </a:p>
          <a:p>
            <a:pPr>
              <a:spcAft>
                <a:spcPts val="800"/>
              </a:spcAft>
              <a:defRPr sz="1800" b="0"/>
            </a:pPr>
            <a:r>
              <a:t>• = FlowCalculation + PressureCalculation</a:t>
            </a:r>
          </a:p>
          <a:p>
            <a:pPr>
              <a:spcAft>
                <a:spcPts val="800"/>
              </a:spcAft>
              <a:defRPr sz="1800" b="0"/>
            </a:pPr>
            <a:r>
              <a:t>• + HeadLossCalculation + ResultValidation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PumpStationDesign（泵站设计）：</a:t>
            </a:r>
          </a:p>
          <a:p>
            <a:pPr>
              <a:spcAft>
                <a:spcPts val="800"/>
              </a:spcAft>
              <a:defRPr sz="1800" b="0"/>
            </a:pPr>
            <a:r>
              <a:t>• = FlowPrediction + PumpSelection</a:t>
            </a:r>
          </a:p>
          <a:p>
            <a:pPr>
              <a:spcAft>
                <a:spcPts val="800"/>
              </a:spcAft>
              <a:defRPr sz="1800" b="0"/>
            </a:pPr>
            <a:r>
              <a:t>• + PipeDesign + CostEstimation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NetworkOptimization（管网优化）：</a:t>
            </a:r>
          </a:p>
          <a:p>
            <a:pPr>
              <a:spcAft>
                <a:spcPts val="800"/>
              </a:spcAft>
              <a:defRPr sz="1800" b="0"/>
            </a:pPr>
            <a:r>
              <a:t>• = TopologyAnalysis + HydraulicAnalysis</a:t>
            </a:r>
          </a:p>
          <a:p>
            <a:pPr>
              <a:spcAft>
                <a:spcPts val="800"/>
              </a:spcAft>
              <a:defRPr sz="1800" b="0"/>
            </a:pPr>
            <a:r>
              <a:t>• + OptimizationSolver + ResultEvaluation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优势：</a:t>
            </a:r>
          </a:p>
          <a:p>
            <a:pPr>
              <a:spcAft>
                <a:spcPts val="800"/>
              </a:spcAft>
              <a:defRPr sz="1800" b="0"/>
            </a:pPr>
            <a:r>
              <a:t>• 封装复杂流程，降低使用难度</a:t>
            </a:r>
          </a:p>
          <a:p>
            <a:pPr>
              <a:spcAft>
                <a:spcPts val="800"/>
              </a:spcAft>
              <a:defRPr sz="1800" b="0"/>
            </a:pPr>
            <a:r>
              <a:t>• 保证执行顺序，避免遗漏步骤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流程技能：完整业务流程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流程技能示例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WaterSupplyDesign（供水系统设计）：</a:t>
            </a: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1. 需求分析：用水量预测、服务范围</a:t>
            </a: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2. 方案生成：水源选择、管网布局</a:t>
            </a: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3. 水力计算：流量分配、压力校核</a:t>
            </a: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4. 设备选型：水泵、阀门、水池</a:t>
            </a: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5. 优化调整：多目标优化</a:t>
            </a:r>
          </a:p>
          <a:p>
            <a:pPr>
              <a:spcAft>
                <a:spcPts val="800"/>
              </a:spcAft>
              <a:defRPr sz="1800" b="0"/>
            </a:pPr>
            <a:r>
              <a:t>6. 成果输出：图纸、报告、清单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FaultDiagnosis（故障诊断）：</a:t>
            </a: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1. 数据采集：实时监测、历史数据</a:t>
            </a: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2. 异常检测：识别异常工况</a:t>
            </a: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3. 原因分析：水力仿真、规则推理</a:t>
            </a: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4. 方案生成：应急措施、长期方案</a:t>
            </a: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5. 效果评估：仿真验证、风险评估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第八部分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计算引擎层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C000"/>
                </a:solidFill>
              </a:defRPr>
            </a:pPr>
            <a:r>
              <a:t>七大通用引擎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七大通用引擎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计算引擎层的核心能力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1. 预测引擎（Prediction）</a:t>
            </a:r>
          </a:p>
          <a:p>
            <a:pPr>
              <a:spcAft>
                <a:spcPts val="800"/>
              </a:spcAft>
              <a:defRPr sz="1800" b="0"/>
            </a:pPr>
            <a:r>
              <a:t>• 用水量预测、水质预测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2. 优化引擎（Optimization）</a:t>
            </a:r>
          </a:p>
          <a:p>
            <a:pPr>
              <a:spcAft>
                <a:spcPts val="800"/>
              </a:spcAft>
              <a:defRPr sz="1800" b="0"/>
            </a:pPr>
            <a:r>
              <a:t>• 调度优化、设计优化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3. 仿真引擎（Simulation）</a:t>
            </a:r>
          </a:p>
          <a:p>
            <a:pPr>
              <a:spcAft>
                <a:spcPts val="800"/>
              </a:spcAft>
              <a:defRPr sz="1800" b="0"/>
            </a:pPr>
            <a:r>
              <a:t>• 水力仿真、水质仿真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4. 学习引擎（Learning）</a:t>
            </a:r>
          </a:p>
          <a:p>
            <a:pPr>
              <a:spcAft>
                <a:spcPts val="800"/>
              </a:spcAft>
              <a:defRPr sz="1800" b="0"/>
            </a:pPr>
            <a:r>
              <a:t>• 模型训练、参数学习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5. 验证引擎（Verification）</a:t>
            </a:r>
          </a:p>
          <a:p>
            <a:pPr>
              <a:spcAft>
                <a:spcPts val="800"/>
              </a:spcAft>
              <a:defRPr sz="1800" b="0"/>
            </a:pPr>
            <a:r>
              <a:t>• 方案校核、规则验证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6. 可视化引擎（Visualization）</a:t>
            </a:r>
          </a:p>
          <a:p>
            <a:pPr>
              <a:spcAft>
                <a:spcPts val="800"/>
              </a:spcAft>
              <a:defRPr sz="1800" b="0"/>
            </a:pPr>
            <a:r>
              <a:t>• 图表生成、3D渲染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7. 报告引擎（Reporting）</a:t>
            </a:r>
          </a:p>
          <a:p>
            <a:pPr>
              <a:spcAft>
                <a:spcPts val="800"/>
              </a:spcAft>
              <a:defRPr sz="1800" b="0"/>
            </a:pPr>
            <a:r>
              <a:t>• 自动生成设计说明、计算书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预测引擎 + 优化引擎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预测引擎（Prediction Engine）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功能：</a:t>
            </a:r>
          </a:p>
          <a:p>
            <a:pPr>
              <a:spcAft>
                <a:spcPts val="800"/>
              </a:spcAft>
              <a:defRPr sz="1800" b="0"/>
            </a:pPr>
            <a:r>
              <a:t>• 时间序列预测：LSTM、Prophet</a:t>
            </a:r>
          </a:p>
          <a:p>
            <a:pPr>
              <a:spcAft>
                <a:spcPts val="800"/>
              </a:spcAft>
              <a:defRPr sz="1800" b="0"/>
            </a:pPr>
            <a:r>
              <a:t>• 空间预测：克里金插值、GNN</a:t>
            </a:r>
          </a:p>
          <a:p>
            <a:pPr>
              <a:spcAft>
                <a:spcPts val="800"/>
              </a:spcAft>
              <a:defRPr sz="1800" b="0"/>
            </a:pPr>
            <a:r>
              <a:t>• 多变量预测：用水量、水质、压力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应用场景：</a:t>
            </a:r>
          </a:p>
          <a:p>
            <a:pPr>
              <a:spcAft>
                <a:spcPts val="800"/>
              </a:spcAft>
              <a:defRPr sz="1800" b="0"/>
            </a:pPr>
            <a:r>
              <a:t>• 短期预测：未来24h用水量</a:t>
            </a:r>
          </a:p>
          <a:p>
            <a:pPr>
              <a:spcAft>
                <a:spcPts val="800"/>
              </a:spcAft>
              <a:defRPr sz="1800" b="0"/>
            </a:pPr>
            <a:r>
              <a:t>• 中期预测：未来7天需水量</a:t>
            </a:r>
          </a:p>
          <a:p>
            <a:pPr>
              <a:spcAft>
                <a:spcPts val="800"/>
              </a:spcAft>
              <a:defRPr sz="1800" b="0"/>
            </a:pPr>
            <a:r>
              <a:t>• 长期预测：未来10年供水规模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优化引擎（Optimization Engine）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算法库：</a:t>
            </a:r>
          </a:p>
          <a:p>
            <a:pPr>
              <a:spcAft>
                <a:spcPts val="800"/>
              </a:spcAft>
              <a:defRPr sz="1800" b="0"/>
            </a:pPr>
            <a:r>
              <a:t>• 线性规划：LP、MILP</a:t>
            </a:r>
          </a:p>
          <a:p>
            <a:pPr>
              <a:spcAft>
                <a:spcPts val="800"/>
              </a:spcAft>
              <a:defRPr sz="1800" b="0"/>
            </a:pPr>
            <a:r>
              <a:t>• 非线性规划：SQP、Interior Point</a:t>
            </a:r>
          </a:p>
          <a:p>
            <a:pPr>
              <a:spcAft>
                <a:spcPts val="800"/>
              </a:spcAft>
              <a:defRPr sz="1800" b="0"/>
            </a:pPr>
            <a:r>
              <a:t>• 启发式算法：GA、PSO、SA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应用场景：</a:t>
            </a:r>
          </a:p>
          <a:p>
            <a:pPr>
              <a:spcAft>
                <a:spcPts val="800"/>
              </a:spcAft>
              <a:defRPr sz="1800" b="0"/>
            </a:pPr>
            <a:r>
              <a:t>• 调度优化：最小化能耗、成本</a:t>
            </a:r>
          </a:p>
          <a:p>
            <a:pPr>
              <a:spcAft>
                <a:spcPts val="800"/>
              </a:spcAft>
              <a:defRPr sz="1800" b="0"/>
            </a:pPr>
            <a:r>
              <a:t>• 设计优化：最优管径、泵站位置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仿真引擎 + 学习引擎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仿真引擎（Simulation Engine）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核心能力：</a:t>
            </a:r>
          </a:p>
          <a:p>
            <a:pPr>
              <a:spcAft>
                <a:spcPts val="800"/>
              </a:spcAft>
              <a:defRPr sz="1800" b="0"/>
            </a:pPr>
            <a:r>
              <a:t>• 水力仿真：EPANET、SWMM</a:t>
            </a:r>
          </a:p>
          <a:p>
            <a:pPr>
              <a:spcAft>
                <a:spcPts val="800"/>
              </a:spcAft>
              <a:defRPr sz="1800" b="0"/>
            </a:pPr>
            <a:r>
              <a:t>• 水质仿真：氯衰减、污染扩散</a:t>
            </a:r>
          </a:p>
          <a:p>
            <a:pPr>
              <a:spcAft>
                <a:spcPts val="800"/>
              </a:spcAft>
              <a:defRPr sz="1800" b="0"/>
            </a:pPr>
            <a:r>
              <a:t>• 数字孪生：实时仿真、预测未来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应用场景：</a:t>
            </a:r>
          </a:p>
          <a:p>
            <a:pPr>
              <a:spcAft>
                <a:spcPts val="800"/>
              </a:spcAft>
              <a:defRPr sz="1800" b="0"/>
            </a:pPr>
            <a:r>
              <a:t>• 方案验证：设计方案可行性</a:t>
            </a:r>
          </a:p>
          <a:p>
            <a:pPr>
              <a:spcAft>
                <a:spcPts val="800"/>
              </a:spcAft>
              <a:defRPr sz="1800" b="0"/>
            </a:pPr>
            <a:r>
              <a:t>• 故障诊断：模拟异常工况</a:t>
            </a:r>
          </a:p>
          <a:p>
            <a:pPr>
              <a:spcAft>
                <a:spcPts val="800"/>
              </a:spcAft>
              <a:defRPr sz="1800" b="0"/>
            </a:pPr>
            <a:r>
              <a:t>• 应急演练：爆管、污染事故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学习引擎（Learning Engine）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技术栈：</a:t>
            </a:r>
          </a:p>
          <a:p>
            <a:pPr>
              <a:spcAft>
                <a:spcPts val="800"/>
              </a:spcAft>
              <a:defRPr sz="1800" b="0"/>
            </a:pPr>
            <a:r>
              <a:t>• 监督学习：回归、分类</a:t>
            </a:r>
          </a:p>
          <a:p>
            <a:pPr>
              <a:spcAft>
                <a:spcPts val="800"/>
              </a:spcAft>
              <a:defRPr sz="1800" b="0"/>
            </a:pPr>
            <a:r>
              <a:t>• 无监督学习：聚类、降维</a:t>
            </a:r>
          </a:p>
          <a:p>
            <a:pPr>
              <a:spcAft>
                <a:spcPts val="800"/>
              </a:spcAft>
              <a:defRPr sz="1800" b="0"/>
            </a:pPr>
            <a:r>
              <a:t>• 强化学习：调度策略优化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应用场景：</a:t>
            </a:r>
          </a:p>
          <a:p>
            <a:pPr>
              <a:spcAft>
                <a:spcPts val="800"/>
              </a:spcAft>
              <a:defRPr sz="1800" b="0"/>
            </a:pPr>
            <a:r>
              <a:t>• 模型校准：管网粗糙系数</a:t>
            </a:r>
          </a:p>
          <a:p>
            <a:pPr>
              <a:spcAft>
                <a:spcPts val="800"/>
              </a:spcAft>
              <a:defRPr sz="1800" b="0"/>
            </a:pPr>
            <a:r>
              <a:t>• 异常检测：漏损、异常用水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验证引擎 + 可视化引擎 + 报告引擎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验证引擎（Verification Engine）</a:t>
            </a:r>
          </a:p>
          <a:p>
            <a:pPr>
              <a:spcAft>
                <a:spcPts val="800"/>
              </a:spcAft>
              <a:defRPr sz="1800" b="0"/>
            </a:pPr>
            <a:r>
              <a:t>• 规则校核：物理约束、设计规范</a:t>
            </a:r>
          </a:p>
          <a:p>
            <a:pPr>
              <a:spcAft>
                <a:spcPts val="800"/>
              </a:spcAft>
              <a:defRPr sz="1800" b="0"/>
            </a:pPr>
            <a:r>
              <a:t>• 结果验证：合理性检查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可视化引擎（Visualization Engine）</a:t>
            </a:r>
          </a:p>
          <a:p>
            <a:pPr>
              <a:spcAft>
                <a:spcPts val="800"/>
              </a:spcAft>
              <a:defRPr sz="1800" b="0"/>
            </a:pPr>
            <a:r>
              <a:t>• 2D图表：折线图、柱状图、热力图</a:t>
            </a:r>
          </a:p>
          <a:p>
            <a:pPr>
              <a:spcAft>
                <a:spcPts val="800"/>
              </a:spcAft>
              <a:defRPr sz="1800" b="0"/>
            </a:pPr>
            <a:r>
              <a:t>• 3D渲染：管网三维可视化</a:t>
            </a:r>
          </a:p>
          <a:p>
            <a:pPr>
              <a:spcAft>
                <a:spcPts val="800"/>
              </a:spcAft>
              <a:defRPr sz="1800" b="0"/>
            </a:pPr>
            <a:r>
              <a:t>• 动态演示：水流动画、压力变化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报告引擎（Reporting Engine）</a:t>
            </a:r>
          </a:p>
          <a:p>
            <a:pPr>
              <a:spcAft>
                <a:spcPts val="800"/>
              </a:spcAft>
              <a:defRPr sz="1800" b="0"/>
            </a:pPr>
            <a:r>
              <a:t>• 模板管理：设计说明、计算书</a:t>
            </a:r>
          </a:p>
          <a:p>
            <a:pPr>
              <a:spcAft>
                <a:spcPts val="800"/>
              </a:spcAft>
              <a:defRPr sz="1800" b="0"/>
            </a:pPr>
            <a:r>
              <a:t>• 自动填充：参数、图表、结论</a:t>
            </a:r>
          </a:p>
          <a:p>
            <a:pPr>
              <a:spcAft>
                <a:spcPts val="800"/>
              </a:spcAft>
              <a:defRPr sz="1800" b="0"/>
            </a:pPr>
            <a:r>
              <a:t>• 格式输出：Word、PDF、HTML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三引擎协同：</a:t>
            </a:r>
          </a:p>
          <a:p>
            <a:pPr>
              <a:spcAft>
                <a:spcPts val="800"/>
              </a:spcAft>
              <a:defRPr sz="1800" b="0"/>
            </a:pPr>
            <a:r>
              <a:t>• 验证 → 可视化 → 报告</a:t>
            </a:r>
          </a:p>
          <a:p>
            <a:pPr>
              <a:spcAft>
                <a:spcPts val="800"/>
              </a:spcAft>
              <a:defRPr sz="1800" b="0"/>
            </a:pPr>
            <a:r>
              <a:t>• 一键生成完整设计文档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第九部分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对象层与元件库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C000"/>
                </a:solidFill>
              </a:defRPr>
            </a:pPr>
            <a:r>
              <a:t>三族元件体系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三族元件体系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元件化设计的三个层次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第一族：物理元件（Physical Components）</a:t>
            </a:r>
          </a:p>
          <a:p>
            <a:pPr>
              <a:spcAft>
                <a:spcPts val="800"/>
              </a:spcAft>
              <a:defRPr sz="1800" b="0"/>
            </a:pPr>
            <a:r>
              <a:t>• 真实设备：管道、水泵、阀门、水池</a:t>
            </a:r>
          </a:p>
          <a:p>
            <a:pPr>
              <a:spcAft>
                <a:spcPts val="800"/>
              </a:spcAft>
              <a:defRPr sz="1800" b="0"/>
            </a:pPr>
            <a:r>
              <a:t>• 属性：尺寸、材质、性能参数</a:t>
            </a:r>
          </a:p>
          <a:p>
            <a:pPr>
              <a:spcAft>
                <a:spcPts val="800"/>
              </a:spcAft>
              <a:defRPr sz="1800" b="0"/>
            </a:pPr>
            <a:r>
              <a:t>• 行为：开关、调节、监测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第二族：水力元件（Hydraulic Components）</a:t>
            </a:r>
          </a:p>
          <a:p>
            <a:pPr>
              <a:spcAft>
                <a:spcPts val="800"/>
              </a:spcAft>
              <a:defRPr sz="1800" b="0"/>
            </a:pPr>
            <a:r>
              <a:t>• 计算抽象：节点、管段、边界条件</a:t>
            </a:r>
          </a:p>
          <a:p>
            <a:pPr>
              <a:spcAft>
                <a:spcPts val="800"/>
              </a:spcAft>
              <a:defRPr sz="1800" b="0"/>
            </a:pPr>
            <a:r>
              <a:t>• 属性：流量、压力、水头</a:t>
            </a:r>
          </a:p>
          <a:p>
            <a:pPr>
              <a:spcAft>
                <a:spcPts val="800"/>
              </a:spcAft>
              <a:defRPr sz="1800" b="0"/>
            </a:pPr>
            <a:r>
              <a:t>• 行为：水力计算、能量平衡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第三族：网络元件（Network Components）</a:t>
            </a:r>
          </a:p>
          <a:p>
            <a:pPr>
              <a:spcAft>
                <a:spcPts val="800"/>
              </a:spcAft>
              <a:defRPr sz="1800" b="0"/>
            </a:pPr>
            <a:r>
              <a:t>• 拓扑结构：图、树、环</a:t>
            </a:r>
          </a:p>
          <a:p>
            <a:pPr>
              <a:spcAft>
                <a:spcPts val="800"/>
              </a:spcAft>
              <a:defRPr sz="1800" b="0"/>
            </a:pPr>
            <a:r>
              <a:t>• 属性：连接关系、路径、分区</a:t>
            </a:r>
          </a:p>
          <a:p>
            <a:pPr>
              <a:spcAft>
                <a:spcPts val="800"/>
              </a:spcAft>
              <a:defRPr sz="1800" b="0"/>
            </a:pPr>
            <a:r>
              <a:t>• 行为：拓扑分析、路径搜索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三族映射：</a:t>
            </a:r>
          </a:p>
          <a:p>
            <a:pPr>
              <a:spcAft>
                <a:spcPts val="800"/>
              </a:spcAft>
              <a:defRPr sz="1800" b="0"/>
            </a:pPr>
            <a:r>
              <a:t>• 物理元件 ↔ 水力元件 ↔ 网络元件</a:t>
            </a:r>
          </a:p>
          <a:p>
            <a:pPr>
              <a:spcAft>
                <a:spcPts val="800"/>
              </a:spcAft>
              <a:defRPr sz="1800" b="0"/>
            </a:pPr>
            <a:r>
              <a:t>• 虚实映射，数字孪生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物理元件库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常用物理元件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管道（Pipe）：</a:t>
            </a:r>
          </a:p>
          <a:p>
            <a:pPr>
              <a:spcAft>
                <a:spcPts val="800"/>
              </a:spcAft>
              <a:defRPr sz="1800" b="0"/>
            </a:pPr>
            <a:r>
              <a:t>• 属性：管径、长度、材质、粗糙系数</a:t>
            </a:r>
          </a:p>
          <a:p>
            <a:pPr>
              <a:spcAft>
                <a:spcPts val="800"/>
              </a:spcAft>
              <a:defRPr sz="1800" b="0"/>
            </a:pPr>
            <a:r>
              <a:t>• 类型：铸铁管、钢管、PE管、PCCP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水泵（Pump）：</a:t>
            </a:r>
          </a:p>
          <a:p>
            <a:pPr>
              <a:spcAft>
                <a:spcPts val="800"/>
              </a:spcAft>
              <a:defRPr sz="1800" b="0"/>
            </a:pPr>
            <a:r>
              <a:t>• 属性：流量、扬程、效率、功率</a:t>
            </a:r>
          </a:p>
          <a:p>
            <a:pPr>
              <a:spcAft>
                <a:spcPts val="800"/>
              </a:spcAft>
              <a:defRPr sz="1800" b="0"/>
            </a:pPr>
            <a:r>
              <a:t>• 类型：离心泵、轴流泵、潜水泵</a:t>
            </a:r>
          </a:p>
          <a:p>
            <a:pPr>
              <a:spcAft>
                <a:spcPts val="800"/>
              </a:spcAft>
              <a:defRPr sz="1800" b="0"/>
            </a:pPr>
            <a:r>
              <a:t>• 特性曲线：Q-H、Q-η、Q-P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阀门（Valve）：</a:t>
            </a:r>
          </a:p>
          <a:p>
            <a:pPr>
              <a:spcAft>
                <a:spcPts val="800"/>
              </a:spcAft>
              <a:defRPr sz="1800" b="0"/>
            </a:pPr>
            <a:r>
              <a:t>• 属性：口径、开度、阻力系数</a:t>
            </a:r>
          </a:p>
          <a:p>
            <a:pPr>
              <a:spcAft>
                <a:spcPts val="800"/>
              </a:spcAft>
              <a:defRPr sz="1800" b="0"/>
            </a:pPr>
            <a:r>
              <a:t>• 类型：闸阀、蝶阀、止回阀、调节阀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水池（Tank）：</a:t>
            </a:r>
          </a:p>
          <a:p>
            <a:pPr>
              <a:spcAft>
                <a:spcPts val="800"/>
              </a:spcAft>
              <a:defRPr sz="1800" b="0"/>
            </a:pPr>
            <a:r>
              <a:t>• 属性：容积、水位、进出水管</a:t>
            </a:r>
          </a:p>
          <a:p>
            <a:pPr>
              <a:spcAft>
                <a:spcPts val="800"/>
              </a:spcAft>
              <a:defRPr sz="1800" b="0"/>
            </a:pPr>
            <a:r>
              <a:t>• 类型：清水池、高位水池、调节池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水力元件库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水力计算抽象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节点（Node）：</a:t>
            </a:r>
          </a:p>
          <a:p>
            <a:pPr>
              <a:spcAft>
                <a:spcPts val="800"/>
              </a:spcAft>
              <a:defRPr sz="1800" b="0"/>
            </a:pPr>
            <a:r>
              <a:t>• 属性：高程、需水量、压力</a:t>
            </a:r>
          </a:p>
          <a:p>
            <a:pPr>
              <a:spcAft>
                <a:spcPts val="800"/>
              </a:spcAft>
              <a:defRPr sz="1800" b="0"/>
            </a:pPr>
            <a:r>
              <a:t>• 类型：用户节点、连接节点</a:t>
            </a:r>
          </a:p>
          <a:p>
            <a:pPr>
              <a:spcAft>
                <a:spcPts val="800"/>
              </a:spcAft>
              <a:defRPr sz="1800" b="0"/>
            </a:pPr>
            <a:r>
              <a:t>• 方程：连续性方程 Σ Q_in = Σ Q_out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管段（Link）：</a:t>
            </a:r>
          </a:p>
          <a:p>
            <a:pPr>
              <a:spcAft>
                <a:spcPts val="800"/>
              </a:spcAft>
              <a:defRPr sz="1800" b="0"/>
            </a:pPr>
            <a:r>
              <a:t>• 属性：流量、流速、水头损失</a:t>
            </a:r>
          </a:p>
          <a:p>
            <a:pPr>
              <a:spcAft>
                <a:spcPts val="800"/>
              </a:spcAft>
              <a:defRPr sz="1800" b="0"/>
            </a:pPr>
            <a:r>
              <a:t>• 类型：管道、水泵、阀门</a:t>
            </a:r>
          </a:p>
          <a:p>
            <a:pPr>
              <a:spcAft>
                <a:spcPts val="800"/>
              </a:spcAft>
              <a:defRPr sz="1800" b="0"/>
            </a:pPr>
            <a:r>
              <a:t>• 方程：能量方程 H_loss = f(Q, D, L)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边界条件（Boundary）：</a:t>
            </a:r>
          </a:p>
          <a:p>
            <a:pPr>
              <a:spcAft>
                <a:spcPts val="800"/>
              </a:spcAft>
              <a:defRPr sz="1800" b="0"/>
            </a:pPr>
            <a:r>
              <a:t>• 固定水头：水源、水池</a:t>
            </a:r>
          </a:p>
          <a:p>
            <a:pPr>
              <a:spcAft>
                <a:spcPts val="800"/>
              </a:spcAft>
              <a:defRPr sz="1800" b="0"/>
            </a:pPr>
            <a:r>
              <a:t>• 固定流量：用户节点</a:t>
            </a:r>
          </a:p>
          <a:p>
            <a:pPr>
              <a:spcAft>
                <a:spcPts val="800"/>
              </a:spcAft>
              <a:defRPr sz="1800" b="0"/>
            </a:pPr>
            <a:r>
              <a:t>• 压力约束：最小服务水头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求解器：</a:t>
            </a:r>
          </a:p>
          <a:p>
            <a:pPr>
              <a:spcAft>
                <a:spcPts val="800"/>
              </a:spcAft>
              <a:defRPr sz="1800" b="0"/>
            </a:pPr>
            <a:r>
              <a:t>• 稳态求解：Newton-Raphson</a:t>
            </a:r>
          </a:p>
          <a:p>
            <a:pPr>
              <a:spcAft>
                <a:spcPts val="800"/>
              </a:spcAft>
              <a:defRPr sz="1800" b="0"/>
            </a:pPr>
            <a:r>
              <a:t>• 动态求解：时间步进法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网络元件与组装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网络拓扑元件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图（Graph）：</a:t>
            </a:r>
          </a:p>
          <a:p>
            <a:pPr>
              <a:spcAft>
                <a:spcPts val="800"/>
              </a:spcAft>
              <a:defRPr sz="1800" b="0"/>
            </a:pPr>
            <a:r>
              <a:t>• 节点集合 V = {v1, v2, ..., vn}</a:t>
            </a:r>
          </a:p>
          <a:p>
            <a:pPr>
              <a:spcAft>
                <a:spcPts val="800"/>
              </a:spcAft>
              <a:defRPr sz="1800" b="0"/>
            </a:pPr>
            <a:r>
              <a:t>• 边集合 E = {e1, e2, ..., em}</a:t>
            </a:r>
          </a:p>
          <a:p>
            <a:pPr>
              <a:spcAft>
                <a:spcPts val="800"/>
              </a:spcAft>
              <a:defRPr sz="1800" b="0"/>
            </a:pPr>
            <a:r>
              <a:t>• 邻接矩阵、关联矩阵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拓扑分析：</a:t>
            </a:r>
          </a:p>
          <a:p>
            <a:pPr>
              <a:spcAft>
                <a:spcPts val="800"/>
              </a:spcAft>
              <a:defRPr sz="1800" b="0"/>
            </a:pPr>
            <a:r>
              <a:t>• 连通性检查：是否存在孤立节点</a:t>
            </a:r>
          </a:p>
          <a:p>
            <a:pPr>
              <a:spcAft>
                <a:spcPts val="800"/>
              </a:spcAft>
              <a:defRPr sz="1800" b="0"/>
            </a:pPr>
            <a:r>
              <a:t>• 环路识别：找出所有基本环</a:t>
            </a:r>
          </a:p>
          <a:p>
            <a:pPr>
              <a:spcAft>
                <a:spcPts val="800"/>
              </a:spcAft>
              <a:defRPr sz="1800" b="0"/>
            </a:pPr>
            <a:r>
              <a:t>• 路径搜索：最短路径、关键路径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网络组装：</a:t>
            </a:r>
          </a:p>
          <a:p>
            <a:pPr>
              <a:spcAft>
                <a:spcPts val="800"/>
              </a:spcAft>
              <a:defRPr sz="1800" b="0"/>
            </a:pPr>
            <a:r>
              <a:t>• 像搭积木一样组装水网</a:t>
            </a:r>
          </a:p>
          <a:p>
            <a:pPr>
              <a:spcAft>
                <a:spcPts val="800"/>
              </a:spcAft>
              <a:defRPr sz="1800" b="0"/>
            </a:pPr>
            <a:r>
              <a:t>• 拖拽元件 → 连接 → 配置参数</a:t>
            </a:r>
          </a:p>
          <a:p>
            <a:pPr>
              <a:spcAft>
                <a:spcPts val="800"/>
              </a:spcAft>
              <a:defRPr sz="1800" b="0"/>
            </a:pPr>
            <a:r>
              <a:t>• 自动生成拓扑结构</a:t>
            </a:r>
          </a:p>
          <a:p>
            <a:pPr>
              <a:spcAft>
                <a:spcPts val="800"/>
              </a:spcAft>
              <a:defRPr sz="1800" b="0"/>
            </a:pPr>
            <a:r>
              <a:t>• 一键水力计算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优势：</a:t>
            </a:r>
          </a:p>
          <a:p>
            <a:pPr>
              <a:spcAft>
                <a:spcPts val="800"/>
              </a:spcAft>
              <a:defRPr sz="1800" b="0"/>
            </a:pPr>
            <a:r>
              <a:t>• 降低建模门槛，提高效率</a:t>
            </a:r>
          </a:p>
          <a:p>
            <a:pPr>
              <a:spcAft>
                <a:spcPts val="800"/>
              </a:spcAft>
              <a:defRPr sz="1800" b="0"/>
            </a:pPr>
            <a:r>
              <a:t>• 标准化元件，保证质量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第十部分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应用案例与展望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C000"/>
                </a:solidFill>
              </a:defRPr>
            </a:pPr>
            <a:r>
              <a:t>从理论到实践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应用案例：某市供水系统优化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项目背景</a:t>
            </a:r>
          </a:p>
          <a:p>
            <a:pPr>
              <a:spcAft>
                <a:spcPts val="800"/>
              </a:spcAft>
              <a:defRPr sz="1800" b="0"/>
            </a:pPr>
            <a:r>
              <a:t>• 供水规模：50万m³/d</a:t>
            </a:r>
          </a:p>
          <a:p>
            <a:pPr>
              <a:spcAft>
                <a:spcPts val="800"/>
              </a:spcAft>
              <a:defRPr sz="1800" b="0"/>
            </a:pPr>
            <a:r>
              <a:t>• 问题：能耗高、漏损率高、水压不稳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HydroClaw解决方案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1. 数字孪生建模</a:t>
            </a:r>
          </a:p>
          <a:p>
            <a:pPr>
              <a:spcAft>
                <a:spcPts val="800"/>
              </a:spcAft>
              <a:defRPr sz="1800" b="0"/>
            </a:pPr>
            <a:r>
              <a:t>   • 构建全市管网数字孪生模型</a:t>
            </a:r>
          </a:p>
          <a:p>
            <a:pPr>
              <a:spcAft>
                <a:spcPts val="800"/>
              </a:spcAft>
              <a:defRPr sz="1800" b="0"/>
            </a:pPr>
            <a:r>
              <a:t>   • 接入SCADA实时数据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2. 智能诊断</a:t>
            </a:r>
          </a:p>
          <a:p>
            <a:pPr>
              <a:spcAft>
                <a:spcPts val="800"/>
              </a:spcAft>
              <a:defRPr sz="1800" b="0"/>
            </a:pPr>
            <a:r>
              <a:t>   • 识别高漏损区域：3个重点片区</a:t>
            </a:r>
          </a:p>
          <a:p>
            <a:pPr>
              <a:spcAft>
                <a:spcPts val="800"/>
              </a:spcAft>
              <a:defRPr sz="1800" b="0"/>
            </a:pPr>
            <a:r>
              <a:t>   • 分析水压不稳原因：泵站调度不合理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1F4E78"/>
                </a:solidFill>
              </a:defRPr>
            </a:pPr>
            <a:r>
              <a:t>3. 优化方案</a:t>
            </a:r>
          </a:p>
          <a:p>
            <a:pPr>
              <a:spcAft>
                <a:spcPts val="800"/>
              </a:spcAft>
              <a:defRPr sz="1800" b="0"/>
            </a:pPr>
            <a:r>
              <a:t>   • 调度优化：降低能耗15%</a:t>
            </a:r>
          </a:p>
          <a:p>
            <a:pPr>
              <a:spcAft>
                <a:spcPts val="800"/>
              </a:spcAft>
              <a:defRPr sz="1800" b="0"/>
            </a:pPr>
            <a:r>
              <a:t>   • 分区计量：漏损率从18%降至12%</a:t>
            </a:r>
          </a:p>
          <a:p>
            <a:pPr>
              <a:spcAft>
                <a:spcPts val="800"/>
              </a:spcAft>
              <a:defRPr sz="1800" b="0"/>
            </a:pPr>
            <a:r>
              <a:t>   • 压力优化：水压合格率从85%提升至95%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效果：</a:t>
            </a:r>
          </a:p>
          <a:p>
            <a:pPr>
              <a:spcAft>
                <a:spcPts val="800"/>
              </a:spcAft>
              <a:defRPr sz="1800" b="0"/>
            </a:pPr>
            <a:r>
              <a:t>• 年节约电费：300万元</a:t>
            </a:r>
          </a:p>
          <a:p>
            <a:pPr>
              <a:spcAft>
                <a:spcPts val="800"/>
              </a:spcAft>
              <a:defRPr sz="1800" b="0"/>
            </a:pPr>
            <a:r>
              <a:t>• 减少漏损：年节水200万m³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渗透策略：从点到面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HydroClaw的推广路径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第一阶段：单点突破（0-6个月）</a:t>
            </a:r>
          </a:p>
          <a:p>
            <a:pPr>
              <a:spcAft>
                <a:spcPts val="800"/>
              </a:spcAft>
              <a:defRPr sz="1800" b="0"/>
            </a:pPr>
            <a:r>
              <a:t>• 目标：设计院、咨询公司</a:t>
            </a:r>
          </a:p>
          <a:p>
            <a:pPr>
              <a:spcAft>
                <a:spcPts val="800"/>
              </a:spcAft>
              <a:defRPr sz="1800" b="0"/>
            </a:pPr>
            <a:r>
              <a:t>• 场景：管网设计、方案优化</a:t>
            </a:r>
          </a:p>
          <a:p>
            <a:pPr>
              <a:spcAft>
                <a:spcPts val="800"/>
              </a:spcAft>
              <a:defRPr sz="1800" b="0"/>
            </a:pPr>
            <a:r>
              <a:t>• 价值：提高设计效率3-5倍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第二阶段：线性扩展（6-18个月）</a:t>
            </a:r>
          </a:p>
          <a:p>
            <a:pPr>
              <a:spcAft>
                <a:spcPts val="800"/>
              </a:spcAft>
              <a:defRPr sz="1800" b="0"/>
            </a:pPr>
            <a:r>
              <a:t>• 目标：水务公司、运维单位</a:t>
            </a:r>
          </a:p>
          <a:p>
            <a:pPr>
              <a:spcAft>
                <a:spcPts val="800"/>
              </a:spcAft>
              <a:defRPr sz="1800" b="0"/>
            </a:pPr>
            <a:r>
              <a:t>• 场景：调度优化、故障诊断</a:t>
            </a:r>
          </a:p>
          <a:p>
            <a:pPr>
              <a:spcAft>
                <a:spcPts val="800"/>
              </a:spcAft>
              <a:defRPr sz="1800" b="0"/>
            </a:pPr>
            <a:r>
              <a:t>• 价值：降低能耗15%、减少漏损30%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第三阶段：面状覆盖（18-36个月）</a:t>
            </a:r>
          </a:p>
          <a:p>
            <a:pPr>
              <a:spcAft>
                <a:spcPts val="800"/>
              </a:spcAft>
              <a:defRPr sz="1800" b="0"/>
            </a:pPr>
            <a:r>
              <a:t>• 目标：政府部门、监管机构</a:t>
            </a:r>
          </a:p>
          <a:p>
            <a:pPr>
              <a:spcAft>
                <a:spcPts val="800"/>
              </a:spcAft>
              <a:defRPr sz="1800" b="0"/>
            </a:pPr>
            <a:r>
              <a:t>• 场景：智慧水务、城市大脑</a:t>
            </a:r>
          </a:p>
          <a:p>
            <a:pPr>
              <a:spcAft>
                <a:spcPts val="800"/>
              </a:spcAft>
              <a:defRPr sz="1800" b="0"/>
            </a:pPr>
            <a:r>
              <a:t>• 价值：全域优化、应急指挥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关键成功因素：</a:t>
            </a:r>
          </a:p>
          <a:p>
            <a:pPr>
              <a:spcAft>
                <a:spcPts val="800"/>
              </a:spcAft>
              <a:defRPr sz="1800" b="0"/>
            </a:pPr>
            <a:r>
              <a:t>• 降低使用门槛：自然语言交互</a:t>
            </a:r>
          </a:p>
          <a:p>
            <a:pPr>
              <a:spcAft>
                <a:spcPts val="800"/>
              </a:spcAft>
              <a:defRPr sz="1800" b="0"/>
            </a:pPr>
            <a:r>
              <a:t>• 快速见效：1-2周出成果</a:t>
            </a:r>
          </a:p>
          <a:p>
            <a:pPr>
              <a:spcAft>
                <a:spcPts val="800"/>
              </a:spcAft>
              <a:defRPr sz="1800" b="0"/>
            </a:pPr>
            <a:r>
              <a:t>• 持续优化：越用越智能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成功案例集锦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t>典型应用场景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案例1：某新区供水系统设计</a:t>
            </a:r>
          </a:p>
          <a:p>
            <a:pPr>
              <a:spcAft>
                <a:spcPts val="800"/>
              </a:spcAft>
              <a:defRPr sz="1800" b="0"/>
            </a:pPr>
            <a:r>
              <a:t>• 用时：3天（传统方法需2周）</a:t>
            </a:r>
          </a:p>
          <a:p>
            <a:pPr>
              <a:spcAft>
                <a:spcPts val="800"/>
              </a:spcAft>
              <a:defRPr sz="1800" b="0"/>
            </a:pPr>
            <a:r>
              <a:t>• 效果：生成3套方案，投资节约12%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案例2：某水厂调度优化</a:t>
            </a:r>
          </a:p>
          <a:p>
            <a:pPr>
              <a:spcAft>
                <a:spcPts val="800"/>
              </a:spcAft>
              <a:defRPr sz="1800" b="0"/>
            </a:pPr>
            <a:r>
              <a:t>• 用时：1周（传统方法需1个月）</a:t>
            </a:r>
          </a:p>
          <a:p>
            <a:pPr>
              <a:spcAft>
                <a:spcPts val="800"/>
              </a:spcAft>
              <a:defRPr sz="1800" b="0"/>
            </a:pPr>
            <a:r>
              <a:t>• 效果：能耗降低18%，年节约80万元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案例3：某市管网漏损治理</a:t>
            </a:r>
          </a:p>
          <a:p>
            <a:pPr>
              <a:spcAft>
                <a:spcPts val="800"/>
              </a:spcAft>
              <a:defRPr sz="1800" b="0"/>
            </a:pPr>
            <a:r>
              <a:t>• 用时：2周（传统方法需3个月）</a:t>
            </a:r>
          </a:p>
          <a:p>
            <a:pPr>
              <a:spcAft>
                <a:spcPts val="800"/>
              </a:spcAft>
              <a:defRPr sz="1800" b="0"/>
            </a:pPr>
            <a:r>
              <a:t>• 效果：精准定位漏损点，漏损率降低8%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案例4：某科研团队算法验证</a:t>
            </a:r>
          </a:p>
          <a:p>
            <a:pPr>
              <a:spcAft>
                <a:spcPts val="800"/>
              </a:spcAft>
              <a:defRPr sz="1800" b="0"/>
            </a:pPr>
            <a:r>
              <a:t>• 用时：3天（传统方法需2周）</a:t>
            </a:r>
          </a:p>
          <a:p>
            <a:pPr>
              <a:spcAft>
                <a:spcPts val="800"/>
              </a:spcAft>
              <a:defRPr sz="1800" b="0"/>
            </a:pPr>
            <a:r>
              <a:t>• 效果：快速验证新算法，发表SCI论文</a:t>
            </a:r>
          </a:p>
          <a:p>
            <a:pPr>
              <a:spcAft>
                <a:spcPts val="800"/>
              </a:spcAft>
              <a:defRPr sz="1800" b="0"/>
            </a:pPr>
          </a:p>
          <a:p>
            <a:pPr>
              <a:spcAft>
                <a:spcPts val="800"/>
              </a:spcAft>
              <a:defRPr sz="1800" b="0"/>
            </a:pPr>
            <a:r>
              <a:t>用户反馈：</a:t>
            </a:r>
          </a:p>
          <a:p>
            <a:pPr>
              <a:spcAft>
                <a:spcPts val="800"/>
              </a:spcAft>
              <a:defRPr sz="1800" b="0"/>
            </a:pPr>
            <a:r>
              <a:t>• '像有了一个24小时在线的专家顾问'</a:t>
            </a:r>
          </a:p>
          <a:p>
            <a:pPr>
              <a:spcAft>
                <a:spcPts val="800"/>
              </a:spcAft>
              <a:defRPr sz="1800" b="0"/>
            </a:pPr>
            <a:r>
              <a:t>• '新人也能快速上手，大大缩短培养周期'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HydroClaw：让水网自主运行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FC000"/>
                </a:solidFill>
              </a:defRPr>
            </a:pPr>
            <a:r>
              <a:t>核心价值：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降低门槛：从'全民养虾'到自然语言交互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提高效率：设计效率提升3-5倍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保证质量：规则引擎兜底，符合规范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知识传承：案例库积累，越用越智能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FFC000"/>
                </a:solidFill>
              </a:defRPr>
            </a:pPr>
            <a:r>
              <a:t>愿景：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让每个水利工程师都有自己的AI助手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让水网像自动驾驶一样自主运行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572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472C4"/>
                </a:solidFill>
              </a:defRPr>
            </a:pPr>
            <a:r>
              <a:t>感谢聆听！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